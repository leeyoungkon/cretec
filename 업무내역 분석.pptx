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notesMasterIdLst>
    <p:notesMasterId r:id="rId13"/>
  </p:notesMasterIdLst>
  <p:handoutMasterIdLst>
    <p:handoutMasterId r:id="rId14"/>
  </p:handoutMasterIdLst>
  <p:sldIdLst>
    <p:sldId id="3367" r:id="rId2"/>
    <p:sldId id="3391" r:id="rId3"/>
    <p:sldId id="3397" r:id="rId4"/>
    <p:sldId id="3400" r:id="rId5"/>
    <p:sldId id="3398" r:id="rId6"/>
    <p:sldId id="3399" r:id="rId7"/>
    <p:sldId id="3392" r:id="rId8"/>
    <p:sldId id="3393" r:id="rId9"/>
    <p:sldId id="3394" r:id="rId10"/>
    <p:sldId id="3395" r:id="rId11"/>
    <p:sldId id="3396" r:id="rId12"/>
  </p:sldIdLst>
  <p:sldSz cx="9906000" cy="6858000" type="A4"/>
  <p:notesSz cx="9928225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569E"/>
    <a:srgbClr val="FCFEFE"/>
    <a:srgbClr val="FFFFFF"/>
    <a:srgbClr val="0000FF"/>
    <a:srgbClr val="129BA6"/>
    <a:srgbClr val="FF9664"/>
    <a:srgbClr val="D24656"/>
    <a:srgbClr val="536D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TxStyle/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TxStyle/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TxStyle/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31" autoAdjust="0"/>
    <p:restoredTop sz="92623" autoAdjust="0"/>
  </p:normalViewPr>
  <p:slideViewPr>
    <p:cSldViewPr snapToGrid="0">
      <p:cViewPr varScale="1">
        <p:scale>
          <a:sx n="61" d="100"/>
          <a:sy n="61" d="100"/>
        </p:scale>
        <p:origin x="534" y="21"/>
      </p:cViewPr>
      <p:guideLst>
        <p:guide orient="horz" pos="2159"/>
        <p:guide pos="3119"/>
      </p:guideLst>
    </p:cSldViewPr>
  </p:slideViewPr>
  <p:outlineViewPr>
    <p:cViewPr>
      <p:scale>
        <a:sx n="33" d="100"/>
        <a:sy n="33" d="100"/>
      </p:scale>
      <p:origin x="0" y="-9520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50922"/>
    </p:cViewPr>
  </p:sorterViewPr>
  <p:notesViewPr>
    <p:cSldViewPr snapToGrid="0">
      <p:cViewPr varScale="1">
        <p:scale>
          <a:sx n="92" d="100"/>
          <a:sy n="92" d="100"/>
        </p:scale>
        <p:origin x="60" y="168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4301922" cy="340915"/>
          </a:xfrm>
          <a:prstGeom prst="rect">
            <a:avLst/>
          </a:prstGeom>
        </p:spPr>
        <p:txBody>
          <a:bodyPr vert="horz" lIns="91312" tIns="45657" rIns="91312" bIns="45657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>
              <a:latin typeface="KoPub돋움체 Medium"/>
              <a:ea typeface="KoPub돋움체 Medium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3989" y="2"/>
            <a:ext cx="4301922" cy="340915"/>
          </a:xfrm>
          <a:prstGeom prst="rect">
            <a:avLst/>
          </a:prstGeom>
        </p:spPr>
        <p:txBody>
          <a:bodyPr vert="horz" lIns="91312" tIns="45657" rIns="91312" bIns="45657"/>
          <a:lstStyle>
            <a:lvl1pPr algn="r">
              <a:defRPr sz="1200"/>
            </a:lvl1pPr>
          </a:lstStyle>
          <a:p>
            <a:pPr lvl="0">
              <a:defRPr/>
            </a:pPr>
            <a:r>
              <a:rPr lang="en-US" altLang="ko-KR">
                <a:latin typeface="KoPub돋움체 Medium"/>
                <a:ea typeface="KoPub돋움체 Medium"/>
              </a:rPr>
              <a:t>2018-11-21</a:t>
            </a:r>
            <a:endParaRPr lang="ko-KR" altLang="en-US">
              <a:latin typeface="KoPub돋움체 Medium"/>
              <a:ea typeface="KoPub돋움체 Medium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6456761"/>
            <a:ext cx="4301922" cy="340915"/>
          </a:xfrm>
          <a:prstGeom prst="rect">
            <a:avLst/>
          </a:prstGeom>
        </p:spPr>
        <p:txBody>
          <a:bodyPr vert="horz" lIns="91312" tIns="45657" rIns="91312" bIns="45657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>
              <a:latin typeface="KoPub돋움체 Medium"/>
              <a:ea typeface="KoPub돋움체 Medium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3989" y="6456761"/>
            <a:ext cx="4301922" cy="340915"/>
          </a:xfrm>
          <a:prstGeom prst="rect">
            <a:avLst/>
          </a:prstGeom>
        </p:spPr>
        <p:txBody>
          <a:bodyPr vert="horz" lIns="91312" tIns="45657" rIns="91312" bIns="45657" anchor="b"/>
          <a:lstStyle>
            <a:lvl1pPr algn="r">
              <a:defRPr sz="1200"/>
            </a:lvl1pPr>
          </a:lstStyle>
          <a:p>
            <a:pPr lvl="0">
              <a:defRPr/>
            </a:pPr>
            <a:fld id="{65D17C6A-3EEC-42F3-AEAE-7FF8875F99E1}" type="slidenum">
              <a:rPr lang="ko-KR" altLang="en-US">
                <a:latin typeface="KoPub돋움체 Medium"/>
                <a:ea typeface="KoPub돋움체 Medium"/>
              </a:rPr>
              <a:pPr lvl="0">
                <a:defRPr/>
              </a:pPr>
              <a:t>‹#›</a:t>
            </a:fld>
            <a:endParaRPr lang="ko-KR" altLang="en-US">
              <a:latin typeface="KoPub돋움체 Medium"/>
              <a:ea typeface="KoPub돋움체 Medium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4302231" cy="341064"/>
          </a:xfrm>
          <a:prstGeom prst="rect">
            <a:avLst/>
          </a:prstGeom>
        </p:spPr>
        <p:txBody>
          <a:bodyPr vert="horz" lIns="91312" tIns="45657" rIns="91312" bIns="45657"/>
          <a:lstStyle>
            <a:lvl1pPr algn="l">
              <a:defRPr sz="1200">
                <a:latin typeface="KoPub돋움체 Medium"/>
                <a:ea typeface="KoPub돋움체 Medium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9" y="0"/>
            <a:ext cx="4302231" cy="341064"/>
          </a:xfrm>
          <a:prstGeom prst="rect">
            <a:avLst/>
          </a:prstGeom>
        </p:spPr>
        <p:txBody>
          <a:bodyPr vert="horz" lIns="91312" tIns="45657" rIns="91312" bIns="45657"/>
          <a:lstStyle>
            <a:lvl1pPr algn="r">
              <a:defRPr sz="1200">
                <a:latin typeface="KoPub돋움체 Medium"/>
                <a:ea typeface="KoPub돋움체 Medium"/>
              </a:defRPr>
            </a:lvl1pPr>
          </a:lstStyle>
          <a:p>
            <a:pPr lvl="0">
              <a:defRPr/>
            </a:pPr>
            <a:r>
              <a:rPr lang="en-US" altLang="ko-KR"/>
              <a:t>2018-11-21</a:t>
            </a:r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306763" y="849313"/>
            <a:ext cx="3314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7" rIns="91312" bIns="45657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71382"/>
            <a:ext cx="7942580" cy="2676585"/>
          </a:xfrm>
          <a:prstGeom prst="rect">
            <a:avLst/>
          </a:prstGeom>
        </p:spPr>
        <p:txBody>
          <a:bodyPr vert="horz" lIns="91312" tIns="45657" rIns="91312" bIns="45657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6456613"/>
            <a:ext cx="4302231" cy="341063"/>
          </a:xfrm>
          <a:prstGeom prst="rect">
            <a:avLst/>
          </a:prstGeom>
        </p:spPr>
        <p:txBody>
          <a:bodyPr vert="horz" lIns="91312" tIns="45657" rIns="91312" bIns="45657" anchor="b"/>
          <a:lstStyle>
            <a:lvl1pPr algn="l">
              <a:defRPr sz="1200">
                <a:latin typeface="KoPub돋움체 Medium"/>
                <a:ea typeface="KoPub돋움체 Medium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9" y="6456613"/>
            <a:ext cx="4302231" cy="341063"/>
          </a:xfrm>
          <a:prstGeom prst="rect">
            <a:avLst/>
          </a:prstGeom>
        </p:spPr>
        <p:txBody>
          <a:bodyPr vert="horz" lIns="91312" tIns="45657" rIns="91312" bIns="45657" anchor="b"/>
          <a:lstStyle>
            <a:lvl1pPr algn="r">
              <a:defRPr sz="1200">
                <a:latin typeface="KoPub돋움체 Medium"/>
                <a:ea typeface="KoPub돋움체 Medium"/>
              </a:defRPr>
            </a:lvl1pPr>
          </a:lstStyle>
          <a:p>
            <a:pPr lvl="0">
              <a:defRPr/>
            </a:pPr>
            <a:fld id="{E9CDEF3D-52BA-4170-8323-8257CC7BA349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/>
        <a:ea typeface="KoPub돋움체 Medium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oPub돋움체 Medium"/>
        <a:ea typeface="KoPub돋움체 Medium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oPub돋움체 Medium"/>
        <a:ea typeface="KoPub돋움체 Medium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oPub돋움체 Medium"/>
        <a:ea typeface="KoPub돋움체 Medium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oPub돋움체 Medium"/>
        <a:ea typeface="KoPub돋움체 Medium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306763" y="849313"/>
            <a:ext cx="3314700" cy="22939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6507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3580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1912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2107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4288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135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71103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44487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21064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64204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3118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E9CDEF3D-52BA-4170-8323-8257CC7BA349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425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28887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857250" y="391884"/>
            <a:ext cx="9048750" cy="4782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5" name="제목 46"/>
          <p:cNvSpPr>
            <a:spLocks noGrp="1"/>
          </p:cNvSpPr>
          <p:nvPr>
            <p:ph type="title"/>
          </p:nvPr>
        </p:nvSpPr>
        <p:spPr>
          <a:xfrm>
            <a:off x="993138" y="481469"/>
            <a:ext cx="2946319" cy="332399"/>
          </a:xfrm>
        </p:spPr>
        <p:txBody>
          <a:bodyPr wrap="none" lIns="0" tIns="0" rIns="0" bIns="0" anchor="b" anchorCtr="0">
            <a:spAutoFit/>
          </a:bodyPr>
          <a:lstStyle>
            <a:lvl1pPr marL="0" algn="l" defTabSz="457200" rtl="0" eaLnBrk="1" latinLnBrk="0" hangingPunct="1">
              <a:defRPr lang="ko-KR" altLang="en-US" sz="2400" kern="12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직사각형 5"/>
          <p:cNvSpPr/>
          <p:nvPr userDrawn="1"/>
        </p:nvSpPr>
        <p:spPr>
          <a:xfrm>
            <a:off x="0" y="391885"/>
            <a:ext cx="579120" cy="478236"/>
          </a:xfrm>
          <a:prstGeom prst="rect">
            <a:avLst/>
          </a:prstGeom>
          <a:solidFill>
            <a:srgbClr val="2156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7" name="텍스트 개체 틀 15"/>
          <p:cNvSpPr>
            <a:spLocks noGrp="1"/>
          </p:cNvSpPr>
          <p:nvPr>
            <p:ph type="body" sz="quarter" idx="14" hasCustomPrompt="1"/>
          </p:nvPr>
        </p:nvSpPr>
        <p:spPr>
          <a:xfrm>
            <a:off x="76835" y="511552"/>
            <a:ext cx="425450" cy="276999"/>
          </a:xfrm>
        </p:spPr>
        <p:txBody>
          <a:bodyPr lIns="0" tIns="0" rIns="0" bIns="0" anchor="ctr">
            <a:spAutoFit/>
          </a:bodyPr>
          <a:lstStyle>
            <a:lvl1pPr marL="0" indent="0" algn="ctr" defTabSz="457200" rtl="0" eaLnBrk="1" latinLnBrk="0" hangingPunct="1">
              <a:buNone/>
              <a:defRPr lang="ko-KR" altLang="en-US" sz="2000" kern="1200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defRPr>
            </a:lvl1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8" name="텍스트 개체 틀 45"/>
          <p:cNvSpPr>
            <a:spLocks noGrp="1"/>
          </p:cNvSpPr>
          <p:nvPr>
            <p:ph type="body" sz="quarter" idx="13"/>
          </p:nvPr>
        </p:nvSpPr>
        <p:spPr>
          <a:xfrm>
            <a:off x="577263" y="1068136"/>
            <a:ext cx="8980272" cy="276999"/>
          </a:xfrm>
        </p:spPr>
        <p:txBody>
          <a:bodyPr lIns="0" tIns="0" rIns="0" bIns="0" anchor="ctr">
            <a:spAutoFit/>
          </a:bodyPr>
          <a:lstStyle>
            <a:lvl1pPr marL="0" indent="0" algn="l" defTabSz="495285" rtl="0" eaLnBrk="1" latinLnBrk="0" hangingPunct="1"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>
              <a:buNone/>
              <a:defRPr sz="1300">
                <a:latin typeface="+mn-ea"/>
                <a:ea typeface="+mn-ea"/>
              </a:defRPr>
            </a:lvl2pPr>
            <a:lvl3pPr marL="990570" indent="0">
              <a:buNone/>
              <a:defRPr sz="1300">
                <a:latin typeface="+mn-ea"/>
                <a:ea typeface="+mn-ea"/>
              </a:defRPr>
            </a:lvl3pPr>
            <a:lvl4pPr marL="1485854" indent="0">
              <a:buNone/>
              <a:defRPr sz="1300">
                <a:latin typeface="+mn-ea"/>
                <a:ea typeface="+mn-ea"/>
              </a:defRPr>
            </a:lvl4pPr>
            <a:lvl5pPr marL="1981139" indent="0">
              <a:buNone/>
              <a:defRPr sz="1300"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0" name="직사각형 9"/>
          <p:cNvSpPr/>
          <p:nvPr userDrawn="1"/>
        </p:nvSpPr>
        <p:spPr>
          <a:xfrm>
            <a:off x="664845" y="391885"/>
            <a:ext cx="106680" cy="478236"/>
          </a:xfrm>
          <a:prstGeom prst="rect">
            <a:avLst/>
          </a:prstGeom>
          <a:solidFill>
            <a:srgbClr val="21569E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341075" y="1123729"/>
            <a:ext cx="182382" cy="138112"/>
            <a:chOff x="435418" y="842963"/>
            <a:chExt cx="168353" cy="138112"/>
          </a:xfrm>
        </p:grpSpPr>
        <p:sp>
          <p:nvSpPr>
            <p:cNvPr id="12" name="갈매기형 수장 11"/>
            <p:cNvSpPr/>
            <p:nvPr/>
          </p:nvSpPr>
          <p:spPr>
            <a:xfrm>
              <a:off x="435418" y="842963"/>
              <a:ext cx="92869" cy="138112"/>
            </a:xfrm>
            <a:prstGeom prst="chevron">
              <a:avLst/>
            </a:prstGeom>
            <a:solidFill>
              <a:srgbClr val="2156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3" name="갈매기형 수장 12"/>
            <p:cNvSpPr/>
            <p:nvPr/>
          </p:nvSpPr>
          <p:spPr>
            <a:xfrm>
              <a:off x="510902" y="842963"/>
              <a:ext cx="92869" cy="138112"/>
            </a:xfrm>
            <a:prstGeom prst="chevron">
              <a:avLst/>
            </a:prstGeom>
            <a:solidFill>
              <a:srgbClr val="696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68871" y="6527294"/>
            <a:ext cx="12371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2FF31CB8-EE0B-4A6A-8561-904A0AB35B79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341075" y="1466456"/>
            <a:ext cx="9216460" cy="400110"/>
          </a:xfr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  <a:lvl2pPr>
              <a:defRPr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2pPr>
            <a:lvl3pPr>
              <a:defRPr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3pPr>
            <a:lvl4pPr>
              <a:defRPr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4pPr>
            <a:lvl5pPr>
              <a:defRPr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5pPr>
          </a:lstStyle>
          <a:p>
            <a:pPr lvl="0"/>
            <a:endParaRPr lang="ko-KR" altLang="en-US" dirty="0"/>
          </a:p>
        </p:txBody>
      </p:sp>
      <p:sp>
        <p:nvSpPr>
          <p:cNvPr id="20" name="텍스트 개체 틀 45"/>
          <p:cNvSpPr>
            <a:spLocks noGrp="1"/>
          </p:cNvSpPr>
          <p:nvPr>
            <p:ph type="body" sz="quarter" idx="12"/>
          </p:nvPr>
        </p:nvSpPr>
        <p:spPr>
          <a:xfrm>
            <a:off x="7272472" y="94685"/>
            <a:ext cx="2486818" cy="215444"/>
          </a:xfrm>
        </p:spPr>
        <p:txBody>
          <a:bodyPr wrap="square" lIns="0" tIns="0" rIns="0" bIns="0" anchor="ctr">
            <a:spAutoFit/>
          </a:bodyPr>
          <a:lstStyle>
            <a:lvl1pPr marL="0" indent="0" algn="r" defTabSz="495285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ko-KR" altLang="en-US" sz="1400" kern="1200" spc="-4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>
              <a:buNone/>
              <a:defRPr sz="1300">
                <a:latin typeface="+mn-ea"/>
                <a:ea typeface="+mn-ea"/>
              </a:defRPr>
            </a:lvl2pPr>
            <a:lvl3pPr marL="990570" indent="0">
              <a:buNone/>
              <a:defRPr sz="1300">
                <a:latin typeface="+mn-ea"/>
                <a:ea typeface="+mn-ea"/>
              </a:defRPr>
            </a:lvl3pPr>
            <a:lvl4pPr marL="1485854" indent="0">
              <a:buNone/>
              <a:defRPr sz="1300">
                <a:latin typeface="+mn-ea"/>
                <a:ea typeface="+mn-ea"/>
              </a:defRPr>
            </a:lvl4pPr>
            <a:lvl5pPr marL="1981139" indent="0">
              <a:buNone/>
              <a:defRPr sz="1300"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</a:t>
            </a:r>
          </a:p>
        </p:txBody>
      </p:sp>
    </p:spTree>
    <p:extLst>
      <p:ext uri="{BB962C8B-B14F-4D97-AF65-F5344CB8AC3E}">
        <p14:creationId xmlns:p14="http://schemas.microsoft.com/office/powerpoint/2010/main" val="27743219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53" userDrawn="1">
          <p15:clr>
            <a:srgbClr val="FBAE40"/>
          </p15:clr>
        </p15:guide>
        <p15:guide id="4" pos="217" userDrawn="1">
          <p15:clr>
            <a:srgbClr val="FBAE40"/>
          </p15:clr>
        </p15:guide>
        <p15:guide id="6" pos="6023" userDrawn="1">
          <p15:clr>
            <a:srgbClr val="FBAE40"/>
          </p15:clr>
        </p15:guide>
        <p15:guide id="8" orient="horz" pos="550" userDrawn="1">
          <p15:clr>
            <a:srgbClr val="FBAE40"/>
          </p15:clr>
        </p15:guide>
        <p15:guide id="9" pos="5887" userDrawn="1">
          <p15:clr>
            <a:srgbClr val="FBAE40"/>
          </p15:clr>
        </p15:guide>
        <p15:guide id="10" orient="horz" pos="2319" userDrawn="1">
          <p15:clr>
            <a:srgbClr val="FBAE40"/>
          </p15:clr>
        </p15:guide>
        <p15:guide id="11" orient="horz" pos="98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75059" y="6527294"/>
            <a:ext cx="10309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2FF31CB8-EE0B-4A6A-8561-904A0AB35B7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0" name="텍스트 개체 틀 45"/>
          <p:cNvSpPr>
            <a:spLocks noGrp="1"/>
          </p:cNvSpPr>
          <p:nvPr>
            <p:ph type="body" sz="quarter" idx="12"/>
          </p:nvPr>
        </p:nvSpPr>
        <p:spPr>
          <a:xfrm>
            <a:off x="7272472" y="94685"/>
            <a:ext cx="2486818" cy="215444"/>
          </a:xfrm>
        </p:spPr>
        <p:txBody>
          <a:bodyPr wrap="square" lIns="0" tIns="0" rIns="0" bIns="0" anchor="ctr">
            <a:spAutoFit/>
          </a:bodyPr>
          <a:lstStyle>
            <a:lvl1pPr marL="0" indent="0" algn="r" defTabSz="495285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ko-KR" altLang="en-US" sz="1400" kern="1200" spc="-4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>
              <a:buNone/>
              <a:defRPr sz="1300">
                <a:latin typeface="+mn-ea"/>
                <a:ea typeface="+mn-ea"/>
              </a:defRPr>
            </a:lvl2pPr>
            <a:lvl3pPr marL="990570" indent="0">
              <a:buNone/>
              <a:defRPr sz="1300">
                <a:latin typeface="+mn-ea"/>
                <a:ea typeface="+mn-ea"/>
              </a:defRPr>
            </a:lvl3pPr>
            <a:lvl4pPr marL="1485854" indent="0">
              <a:buNone/>
              <a:defRPr sz="1300">
                <a:latin typeface="+mn-ea"/>
                <a:ea typeface="+mn-ea"/>
              </a:defRPr>
            </a:lvl4pPr>
            <a:lvl5pPr marL="1981139" indent="0">
              <a:buNone/>
              <a:defRPr sz="1300"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</a:t>
            </a:r>
          </a:p>
        </p:txBody>
      </p:sp>
      <p:sp>
        <p:nvSpPr>
          <p:cNvPr id="14" name="직사각형 13"/>
          <p:cNvSpPr/>
          <p:nvPr userDrawn="1"/>
        </p:nvSpPr>
        <p:spPr>
          <a:xfrm>
            <a:off x="857250" y="391884"/>
            <a:ext cx="9048750" cy="4782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7" name="제목 46"/>
          <p:cNvSpPr>
            <a:spLocks noGrp="1"/>
          </p:cNvSpPr>
          <p:nvPr>
            <p:ph type="title"/>
          </p:nvPr>
        </p:nvSpPr>
        <p:spPr>
          <a:xfrm>
            <a:off x="993138" y="481469"/>
            <a:ext cx="2946319" cy="332399"/>
          </a:xfrm>
        </p:spPr>
        <p:txBody>
          <a:bodyPr wrap="none" lIns="0" tIns="0" rIns="0" bIns="0" anchor="b" anchorCtr="0">
            <a:spAutoFit/>
          </a:bodyPr>
          <a:lstStyle>
            <a:lvl1pPr marL="0" algn="l" defTabSz="457200" rtl="0" eaLnBrk="1" latinLnBrk="0" hangingPunct="1">
              <a:defRPr lang="ko-KR" altLang="en-US" sz="2400" kern="12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직사각형 17"/>
          <p:cNvSpPr/>
          <p:nvPr userDrawn="1"/>
        </p:nvSpPr>
        <p:spPr>
          <a:xfrm>
            <a:off x="0" y="391885"/>
            <a:ext cx="579120" cy="478236"/>
          </a:xfrm>
          <a:prstGeom prst="rect">
            <a:avLst/>
          </a:prstGeom>
          <a:solidFill>
            <a:srgbClr val="2156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2" name="직사각형 21"/>
          <p:cNvSpPr/>
          <p:nvPr userDrawn="1"/>
        </p:nvSpPr>
        <p:spPr>
          <a:xfrm>
            <a:off x="664845" y="391885"/>
            <a:ext cx="106680" cy="478236"/>
          </a:xfrm>
          <a:prstGeom prst="rect">
            <a:avLst/>
          </a:prstGeom>
          <a:solidFill>
            <a:srgbClr val="21569E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9" name="텍스트 개체 틀 45"/>
          <p:cNvSpPr>
            <a:spLocks noGrp="1"/>
          </p:cNvSpPr>
          <p:nvPr>
            <p:ph type="body" sz="quarter" idx="13"/>
          </p:nvPr>
        </p:nvSpPr>
        <p:spPr>
          <a:xfrm>
            <a:off x="577263" y="1066985"/>
            <a:ext cx="8980272" cy="276999"/>
          </a:xfrm>
        </p:spPr>
        <p:txBody>
          <a:bodyPr lIns="0" tIns="0" rIns="0" bIns="0" anchor="ctr">
            <a:spAutoFit/>
          </a:bodyPr>
          <a:lstStyle>
            <a:lvl1pPr marL="0" indent="0" algn="l" defTabSz="495285" rtl="0" eaLnBrk="1" latinLnBrk="0" hangingPunct="1"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>
              <a:buNone/>
              <a:defRPr sz="1300">
                <a:latin typeface="+mn-ea"/>
                <a:ea typeface="+mn-ea"/>
              </a:defRPr>
            </a:lvl2pPr>
            <a:lvl3pPr marL="990570" indent="0">
              <a:buNone/>
              <a:defRPr sz="1300">
                <a:latin typeface="+mn-ea"/>
                <a:ea typeface="+mn-ea"/>
              </a:defRPr>
            </a:lvl3pPr>
            <a:lvl4pPr marL="1485854" indent="0">
              <a:buNone/>
              <a:defRPr sz="1300">
                <a:latin typeface="+mn-ea"/>
                <a:ea typeface="+mn-ea"/>
              </a:defRPr>
            </a:lvl4pPr>
            <a:lvl5pPr marL="1981139" indent="0">
              <a:buNone/>
              <a:defRPr sz="1300"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30" name="텍스트 개체 틀 15"/>
          <p:cNvSpPr>
            <a:spLocks noGrp="1"/>
          </p:cNvSpPr>
          <p:nvPr>
            <p:ph type="body" sz="quarter" idx="14" hasCustomPrompt="1"/>
          </p:nvPr>
        </p:nvSpPr>
        <p:spPr>
          <a:xfrm>
            <a:off x="76835" y="511552"/>
            <a:ext cx="425450" cy="276999"/>
          </a:xfrm>
        </p:spPr>
        <p:txBody>
          <a:bodyPr lIns="0" tIns="0" rIns="0" bIns="0" anchor="ctr">
            <a:spAutoFit/>
          </a:bodyPr>
          <a:lstStyle>
            <a:lvl1pPr marL="0" indent="0" algn="ctr" defTabSz="457200" rtl="0" eaLnBrk="1" latinLnBrk="0" hangingPunct="1">
              <a:buNone/>
              <a:defRPr lang="ko-KR" altLang="en-US" sz="2000" kern="1200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defRPr>
            </a:lvl1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83953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53">
          <p15:clr>
            <a:srgbClr val="FBAE40"/>
          </p15:clr>
        </p15:guide>
        <p15:guide id="6" pos="5887" userDrawn="1">
          <p15:clr>
            <a:srgbClr val="FBAE40"/>
          </p15:clr>
        </p15:guide>
        <p15:guide id="7" orient="horz" pos="2319" userDrawn="1">
          <p15:clr>
            <a:srgbClr val="FBAE40"/>
          </p15:clr>
        </p15:guide>
        <p15:guide id="8" orient="horz" pos="550" userDrawn="1">
          <p15:clr>
            <a:srgbClr val="FBAE40"/>
          </p15:clr>
        </p15:guide>
        <p15:guide id="9" pos="217" userDrawn="1">
          <p15:clr>
            <a:srgbClr val="FBAE40"/>
          </p15:clr>
        </p15:guide>
        <p15:guide id="10" pos="6023" userDrawn="1">
          <p15:clr>
            <a:srgbClr val="FBAE40"/>
          </p15:clr>
        </p15:guide>
        <p15:guide id="12" orient="horz" pos="98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58519" y="6527294"/>
            <a:ext cx="1147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2FF31CB8-EE0B-4A6A-8561-904A0AB35B7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0" name="텍스트 개체 틀 45"/>
          <p:cNvSpPr>
            <a:spLocks noGrp="1"/>
          </p:cNvSpPr>
          <p:nvPr>
            <p:ph type="body" sz="quarter" idx="12"/>
          </p:nvPr>
        </p:nvSpPr>
        <p:spPr>
          <a:xfrm>
            <a:off x="7272472" y="94685"/>
            <a:ext cx="2486818" cy="215444"/>
          </a:xfrm>
        </p:spPr>
        <p:txBody>
          <a:bodyPr wrap="square" lIns="0" tIns="0" rIns="0" bIns="0" anchor="ctr">
            <a:spAutoFit/>
          </a:bodyPr>
          <a:lstStyle>
            <a:lvl1pPr marL="0" indent="0" algn="r" defTabSz="495285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ko-KR" altLang="en-US" sz="1400" kern="1200" spc="-4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>
              <a:buNone/>
              <a:defRPr sz="1300">
                <a:latin typeface="+mn-ea"/>
                <a:ea typeface="+mn-ea"/>
              </a:defRPr>
            </a:lvl2pPr>
            <a:lvl3pPr marL="990570" indent="0">
              <a:buNone/>
              <a:defRPr sz="1300">
                <a:latin typeface="+mn-ea"/>
                <a:ea typeface="+mn-ea"/>
              </a:defRPr>
            </a:lvl3pPr>
            <a:lvl4pPr marL="1485854" indent="0">
              <a:buNone/>
              <a:defRPr sz="1300">
                <a:latin typeface="+mn-ea"/>
                <a:ea typeface="+mn-ea"/>
              </a:defRPr>
            </a:lvl4pPr>
            <a:lvl5pPr marL="1981139" indent="0">
              <a:buNone/>
              <a:defRPr sz="1300"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</a:t>
            </a:r>
          </a:p>
        </p:txBody>
      </p:sp>
      <p:sp>
        <p:nvSpPr>
          <p:cNvPr id="9" name="직사각형 8"/>
          <p:cNvSpPr/>
          <p:nvPr userDrawn="1"/>
        </p:nvSpPr>
        <p:spPr>
          <a:xfrm>
            <a:off x="857250" y="391884"/>
            <a:ext cx="9288236" cy="4782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>
              <a:solidFill>
                <a:schemeClr val="tx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0" name="제목 46"/>
          <p:cNvSpPr>
            <a:spLocks noGrp="1"/>
          </p:cNvSpPr>
          <p:nvPr>
            <p:ph type="title"/>
          </p:nvPr>
        </p:nvSpPr>
        <p:spPr>
          <a:xfrm>
            <a:off x="993138" y="481469"/>
            <a:ext cx="2946319" cy="332399"/>
          </a:xfrm>
        </p:spPr>
        <p:txBody>
          <a:bodyPr wrap="none" lIns="0" tIns="0" rIns="0" bIns="0" anchor="b" anchorCtr="0">
            <a:spAutoFit/>
          </a:bodyPr>
          <a:lstStyle>
            <a:lvl1pPr marL="0" algn="l" defTabSz="457200" rtl="0" eaLnBrk="1" latinLnBrk="0" hangingPunct="1">
              <a:defRPr lang="ko-KR" altLang="en-US" sz="2400" kern="120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4" name="직사각형 13"/>
          <p:cNvSpPr/>
          <p:nvPr userDrawn="1"/>
        </p:nvSpPr>
        <p:spPr>
          <a:xfrm>
            <a:off x="0" y="391885"/>
            <a:ext cx="579120" cy="478236"/>
          </a:xfrm>
          <a:prstGeom prst="rect">
            <a:avLst/>
          </a:prstGeom>
          <a:solidFill>
            <a:srgbClr val="2156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5" name="텍스트 개체 틀 15"/>
          <p:cNvSpPr>
            <a:spLocks noGrp="1"/>
          </p:cNvSpPr>
          <p:nvPr>
            <p:ph type="body" sz="quarter" idx="14" hasCustomPrompt="1"/>
          </p:nvPr>
        </p:nvSpPr>
        <p:spPr>
          <a:xfrm>
            <a:off x="76835" y="511552"/>
            <a:ext cx="425450" cy="276999"/>
          </a:xfrm>
        </p:spPr>
        <p:txBody>
          <a:bodyPr lIns="0" tIns="0" rIns="0" bIns="0" anchor="ctr">
            <a:spAutoFit/>
          </a:bodyPr>
          <a:lstStyle>
            <a:lvl1pPr marL="0" indent="0" algn="ctr" defTabSz="457200" rtl="0" eaLnBrk="1" latinLnBrk="0" hangingPunct="1">
              <a:buNone/>
              <a:defRPr lang="ko-KR" altLang="en-US" sz="2000" kern="1200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defRPr>
            </a:lvl1pPr>
          </a:lstStyle>
          <a:p>
            <a:pPr lvl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21" name="직사각형 20"/>
          <p:cNvSpPr/>
          <p:nvPr userDrawn="1"/>
        </p:nvSpPr>
        <p:spPr>
          <a:xfrm>
            <a:off x="664845" y="391885"/>
            <a:ext cx="106680" cy="478236"/>
          </a:xfrm>
          <a:prstGeom prst="rect">
            <a:avLst/>
          </a:prstGeom>
          <a:solidFill>
            <a:srgbClr val="21569E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8852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 userDrawn="1">
          <p15:clr>
            <a:srgbClr val="FBAE40"/>
          </p15:clr>
        </p15:guide>
        <p15:guide id="3" orient="horz" pos="231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9EB4E-48DE-4A85-8A59-E126F19DF829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C0C6E-C224-44A3-954A-B88988C1B7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601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1" y="6356352"/>
            <a:ext cx="4126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2FF31CB8-EE0B-4A6A-8561-904A0AB35B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289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90" r:id="rId2"/>
    <p:sldLayoutId id="2147483691" r:id="rId3"/>
    <p:sldLayoutId id="2147483689" r:id="rId4"/>
    <p:sldLayoutId id="2147483696" r:id="rId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/>
          <a:srcRect l="3580" b="26390"/>
          <a:stretch>
            <a:fillRect/>
          </a:stretch>
        </p:blipFill>
        <p:spPr>
          <a:xfrm>
            <a:off x="-1" y="5404017"/>
            <a:ext cx="5654675" cy="145398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4"/>
          <a:srcRect t="1460"/>
          <a:stretch>
            <a:fillRect/>
          </a:stretch>
        </p:blipFill>
        <p:spPr>
          <a:xfrm>
            <a:off x="4363197" y="0"/>
            <a:ext cx="5542803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600FAF-C3FC-4C4C-B0AC-A0D38ECD2F13}"/>
              </a:ext>
            </a:extLst>
          </p:cNvPr>
          <p:cNvSpPr txBox="1"/>
          <p:nvPr/>
        </p:nvSpPr>
        <p:spPr>
          <a:xfrm>
            <a:off x="761180" y="1385980"/>
            <a:ext cx="5791126" cy="763286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ko-KR" altLang="en-US" sz="4400" spc="-162">
                <a:latin typeface="KoPub돋움체 Bold" panose="02020603020101020101" pitchFamily="18" charset="-127"/>
                <a:ea typeface="KoPub돋움체 Bold" panose="02020603020101020101" pitchFamily="18" charset="-127"/>
                <a:cs typeface="Arial"/>
              </a:rPr>
              <a:t>크레텍 업무 분석 계획</a:t>
            </a:r>
            <a:endParaRPr lang="en-US" altLang="ko-KR" sz="4400" spc="-162" dirty="0">
              <a:latin typeface="KoPub돋움체 Bold" panose="02020603020101020101" pitchFamily="18" charset="-127"/>
              <a:ea typeface="KoPub돋움체 Bold" panose="02020603020101020101" pitchFamily="18" charset="-127"/>
              <a:cs typeface="Arial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591D716-ABCD-4A51-A3AC-1B9500AFD1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1003" y="3896204"/>
            <a:ext cx="2609850" cy="5810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DCC972-B3B5-457A-932C-5739183C9FF4}"/>
              </a:ext>
            </a:extLst>
          </p:cNvPr>
          <p:cNvSpPr txBox="1"/>
          <p:nvPr/>
        </p:nvSpPr>
        <p:spPr>
          <a:xfrm>
            <a:off x="3172282" y="5323260"/>
            <a:ext cx="790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>
                <a:latin typeface="KoPub돋움체 Medium"/>
                <a:ea typeface="KoPub돋움체 Medium"/>
              </a:rPr>
              <a:t>이영곤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2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4154984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비즈니스 도메인 분석 </a:t>
            </a:r>
            <a:r>
              <a:rPr lang="en-US" altLang="ko-KR">
                <a:latin typeface="+mj-ea"/>
              </a:rPr>
              <a:t>(DDD </a:t>
            </a:r>
            <a:r>
              <a:rPr lang="ko-KR" altLang="en-US">
                <a:latin typeface="+mj-ea"/>
              </a:rPr>
              <a:t>관점</a:t>
            </a:r>
            <a:r>
              <a:rPr lang="en-US" altLang="ko-KR">
                <a:latin typeface="+mj-ea"/>
              </a:rPr>
              <a:t>)</a:t>
            </a:r>
            <a:endParaRPr lang="ko-KR" altLang="en-US" dirty="0"/>
          </a:p>
        </p:txBody>
      </p:sp>
      <p:sp>
        <p:nvSpPr>
          <p:cNvPr id="26" name="텍스트 개체 틀 25"/>
          <p:cNvSpPr>
            <a:spLocks noGrp="1"/>
          </p:cNvSpPr>
          <p:nvPr>
            <p:ph type="body" sz="quarter" idx="13"/>
          </p:nvPr>
        </p:nvSpPr>
        <p:spPr>
          <a:xfrm>
            <a:off x="289560" y="1255108"/>
            <a:ext cx="8980272" cy="333233"/>
          </a:xfrm>
        </p:spPr>
        <p:txBody>
          <a:bodyPr/>
          <a:lstStyle/>
          <a:p>
            <a:r>
              <a:rPr lang="ko-KR" altLang="en-US" sz="2400" b="0">
                <a:latin typeface="+mj-ea"/>
                <a:ea typeface="+mj-ea"/>
              </a:rPr>
              <a:t>도메인 구분 </a:t>
            </a:r>
            <a:r>
              <a:rPr lang="en-US" altLang="ko-KR" sz="2400" b="0">
                <a:latin typeface="+mj-ea"/>
                <a:ea typeface="+mj-ea"/>
              </a:rPr>
              <a:t>(</a:t>
            </a:r>
            <a:r>
              <a:rPr lang="ko-KR" altLang="en-US" sz="2400" b="0">
                <a:latin typeface="+mj-ea"/>
                <a:ea typeface="+mj-ea"/>
              </a:rPr>
              <a:t>예</a:t>
            </a:r>
            <a:r>
              <a:rPr lang="en-US" altLang="ko-KR" sz="2400" b="0">
                <a:latin typeface="+mj-ea"/>
                <a:ea typeface="+mj-ea"/>
              </a:rPr>
              <a:t>)</a:t>
            </a:r>
            <a:endParaRPr lang="ko-KR" altLang="en-US" sz="2400" b="0" dirty="0">
              <a:latin typeface="+mj-ea"/>
              <a:ea typeface="+mj-ea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443B6DF6-ACE9-485F-BFF3-4455575E2AD0}"/>
              </a:ext>
            </a:extLst>
          </p:cNvPr>
          <p:cNvSpPr/>
          <p:nvPr/>
        </p:nvSpPr>
        <p:spPr>
          <a:xfrm>
            <a:off x="289560" y="2004264"/>
            <a:ext cx="3316831" cy="317009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핵심 도메인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상품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품목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가격 정책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주문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재고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출고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물류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거래처</a:t>
            </a:r>
            <a:endParaRPr lang="en-US" altLang="ko-KR" sz="2000" dirty="0">
              <a:latin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F271D7-3009-4CAC-A0A0-4CAA2B5187FB}"/>
              </a:ext>
            </a:extLst>
          </p:cNvPr>
          <p:cNvSpPr/>
          <p:nvPr/>
        </p:nvSpPr>
        <p:spPr>
          <a:xfrm>
            <a:off x="3794369" y="2004264"/>
            <a:ext cx="3316831" cy="2708434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지원 도메인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구매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영업활동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정산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회계 연계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승인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결재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리포트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통계</a:t>
            </a:r>
            <a:endParaRPr lang="en-US" altLang="ko-KR" sz="2000" dirty="0"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EFB0E9-9208-43C3-BBC9-0B695B411F4B}"/>
              </a:ext>
            </a:extLst>
          </p:cNvPr>
          <p:cNvSpPr/>
          <p:nvPr/>
        </p:nvSpPr>
        <p:spPr>
          <a:xfrm>
            <a:off x="7049477" y="2004264"/>
            <a:ext cx="2758832" cy="224676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공통 도메인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인증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권한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공통코드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파일관리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알림</a:t>
            </a:r>
            <a:endParaRPr lang="en-US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97524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C870D7DE-F6BC-4670-81AD-7C750238B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590" y="3347952"/>
            <a:ext cx="5282915" cy="3206750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3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4154984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비즈니스 도메인 분석 </a:t>
            </a:r>
            <a:r>
              <a:rPr lang="en-US" altLang="ko-KR">
                <a:latin typeface="+mj-ea"/>
              </a:rPr>
              <a:t>(DDD </a:t>
            </a:r>
            <a:r>
              <a:rPr lang="ko-KR" altLang="en-US">
                <a:latin typeface="+mj-ea"/>
              </a:rPr>
              <a:t>관점</a:t>
            </a:r>
            <a:r>
              <a:rPr lang="en-US" altLang="ko-KR">
                <a:latin typeface="+mj-ea"/>
              </a:rPr>
              <a:t>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579727" y="1385488"/>
            <a:ext cx="8980272" cy="3332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/>
              <a:t>결과물</a:t>
            </a:r>
            <a:endParaRPr lang="ko-KR" altLang="en-US" sz="2400" b="0" dirty="0"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20B3DC-FBB0-4BA1-A49B-93D6516E3F09}"/>
              </a:ext>
            </a:extLst>
          </p:cNvPr>
          <p:cNvSpPr/>
          <p:nvPr/>
        </p:nvSpPr>
        <p:spPr>
          <a:xfrm>
            <a:off x="289560" y="4084268"/>
            <a:ext cx="3008338" cy="132343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4"/>
              </a:buBlip>
            </a:pPr>
            <a:r>
              <a:rPr lang="en-US" altLang="ko-KR" sz="2000">
                <a:latin typeface="+mn-ea"/>
              </a:rPr>
              <a:t>Bounded Context</a:t>
            </a:r>
          </a:p>
          <a:p>
            <a:pPr marL="342900" indent="-342900">
              <a:spcAft>
                <a:spcPts val="1200"/>
              </a:spcAft>
              <a:buSzPct val="120000"/>
              <a:buBlip>
                <a:blip r:embed="rId4"/>
              </a:buBlip>
            </a:pPr>
            <a:r>
              <a:rPr lang="en-US" altLang="ko-KR" sz="2000">
                <a:latin typeface="+mn-ea"/>
              </a:rPr>
              <a:t>Aggregate </a:t>
            </a:r>
            <a:r>
              <a:rPr lang="ko-KR" altLang="en-US" sz="2000">
                <a:latin typeface="+mn-ea"/>
              </a:rPr>
              <a:t>단위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4"/>
              </a:buBlip>
            </a:pPr>
            <a:r>
              <a:rPr lang="ko-KR" altLang="en-US" sz="2000">
                <a:latin typeface="+mn-ea"/>
              </a:rPr>
              <a:t>서브 도메인</a:t>
            </a:r>
            <a:endParaRPr lang="en-US" altLang="ko-KR" sz="2000" dirty="0">
              <a:latin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AE94999-FE74-4436-B446-917E4BD9878C}"/>
              </a:ext>
            </a:extLst>
          </p:cNvPr>
          <p:cNvSpPr/>
          <p:nvPr/>
        </p:nvSpPr>
        <p:spPr>
          <a:xfrm>
            <a:off x="3928696" y="1552104"/>
            <a:ext cx="2048608" cy="203132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배포 독립성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트랜잭션 경계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데이터 소유권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호출 빈도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성능 특성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운영 복잡도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팀 구조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3B68FAF-666F-4A87-870B-A8A756D2B49A}"/>
              </a:ext>
            </a:extLst>
          </p:cNvPr>
          <p:cNvSpPr/>
          <p:nvPr/>
        </p:nvSpPr>
        <p:spPr>
          <a:xfrm>
            <a:off x="7956166" y="5567390"/>
            <a:ext cx="2048608" cy="400110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buSzPct val="120000"/>
            </a:pPr>
            <a:r>
              <a:rPr lang="ko-KR" altLang="en-US" sz="2000">
                <a:latin typeface="+mn-ea"/>
              </a:rPr>
              <a:t>마이크로서비스</a:t>
            </a:r>
            <a:endParaRPr lang="en-US" altLang="ko-KR" sz="2000" dirty="0"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6905371-DD98-4442-B2F8-65AD2FA7C5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1654" y="3880898"/>
            <a:ext cx="1526809" cy="1526809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E183181A-2996-4F74-AD5B-C01D8F647FCF}"/>
              </a:ext>
            </a:extLst>
          </p:cNvPr>
          <p:cNvSpPr/>
          <p:nvPr/>
        </p:nvSpPr>
        <p:spPr>
          <a:xfrm>
            <a:off x="4478215" y="6049108"/>
            <a:ext cx="1086339" cy="4781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AA45256-A8FB-43B6-91E7-392374874FF5}"/>
              </a:ext>
            </a:extLst>
          </p:cNvPr>
          <p:cNvSpPr/>
          <p:nvPr/>
        </p:nvSpPr>
        <p:spPr>
          <a:xfrm>
            <a:off x="1423865" y="6377365"/>
            <a:ext cx="70582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/>
              <a:t>*Aggregate = “</a:t>
            </a:r>
            <a:r>
              <a:rPr lang="ko-KR" altLang="en-US"/>
              <a:t>데이터 </a:t>
            </a:r>
            <a:r>
              <a:rPr lang="en-US" altLang="ko-KR"/>
              <a:t>+ </a:t>
            </a:r>
            <a:r>
              <a:rPr lang="ko-KR" altLang="en-US"/>
              <a:t>규칙 </a:t>
            </a:r>
            <a:r>
              <a:rPr lang="en-US" altLang="ko-KR"/>
              <a:t>+ </a:t>
            </a:r>
            <a:r>
              <a:rPr lang="ko-KR" altLang="en-US"/>
              <a:t>트랜잭션 경계”를 하나로 묶은 단위</a:t>
            </a:r>
          </a:p>
        </p:txBody>
      </p:sp>
    </p:spTree>
    <p:extLst>
      <p:ext uri="{BB962C8B-B14F-4D97-AF65-F5344CB8AC3E}">
        <p14:creationId xmlns:p14="http://schemas.microsoft.com/office/powerpoint/2010/main" val="1890009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4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4154984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비즈니스 도메인 분석 </a:t>
            </a:r>
            <a:r>
              <a:rPr lang="en-US" altLang="ko-KR">
                <a:latin typeface="+mj-ea"/>
              </a:rPr>
              <a:t>(DDD </a:t>
            </a:r>
            <a:r>
              <a:rPr lang="ko-KR" altLang="en-US">
                <a:latin typeface="+mj-ea"/>
              </a:rPr>
              <a:t>관점</a:t>
            </a:r>
            <a:r>
              <a:rPr lang="en-US" altLang="ko-KR">
                <a:latin typeface="+mj-ea"/>
              </a:rPr>
              <a:t>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410257" y="1276072"/>
            <a:ext cx="8980272" cy="3332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Aggregate </a:t>
            </a:r>
            <a:r>
              <a:rPr lang="ko-KR" altLang="en-US" sz="2400"/>
              <a:t>단위</a:t>
            </a:r>
            <a:endParaRPr lang="ko-KR" altLang="en-US" sz="2400" b="0" dirty="0"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20B3DC-FBB0-4BA1-A49B-93D6516E3F09}"/>
              </a:ext>
            </a:extLst>
          </p:cNvPr>
          <p:cNvSpPr/>
          <p:nvPr/>
        </p:nvSpPr>
        <p:spPr>
          <a:xfrm>
            <a:off x="1093636" y="1841242"/>
            <a:ext cx="7952453" cy="5016758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Aggregate = “</a:t>
            </a:r>
            <a:r>
              <a:rPr lang="ko-KR" altLang="en-US" sz="2000">
                <a:latin typeface="+mn-ea"/>
              </a:rPr>
              <a:t>데이터 </a:t>
            </a:r>
            <a:r>
              <a:rPr lang="en-US" altLang="ko-KR" sz="2000">
                <a:latin typeface="+mn-ea"/>
              </a:rPr>
              <a:t>+ </a:t>
            </a:r>
            <a:r>
              <a:rPr lang="ko-KR" altLang="en-US" sz="2000">
                <a:latin typeface="+mn-ea"/>
              </a:rPr>
              <a:t>규칙 </a:t>
            </a:r>
            <a:r>
              <a:rPr lang="en-US" altLang="ko-KR" sz="2000">
                <a:latin typeface="+mn-ea"/>
              </a:rPr>
              <a:t>+ </a:t>
            </a:r>
            <a:r>
              <a:rPr lang="ko-KR" altLang="en-US" sz="2000">
                <a:latin typeface="+mn-ea"/>
              </a:rPr>
              <a:t>트랜잭션 경계”를 하나로 묶은 단위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데이터 묶음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여러 엔티티</a:t>
            </a:r>
            <a:r>
              <a:rPr lang="en-US" altLang="ko-KR" sz="2000">
                <a:latin typeface="+mn-ea"/>
              </a:rPr>
              <a:t>/</a:t>
            </a:r>
            <a:r>
              <a:rPr lang="ko-KR" altLang="en-US" sz="2000">
                <a:latin typeface="+mn-ea"/>
              </a:rPr>
              <a:t>값 객체를 포함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예</a:t>
            </a:r>
            <a:r>
              <a:rPr lang="en-US" altLang="ko-KR" sz="2000">
                <a:latin typeface="+mn-ea"/>
              </a:rPr>
              <a:t>: Order + OrderItem</a:t>
            </a: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비즈니스 규칙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단순 </a:t>
            </a:r>
            <a:r>
              <a:rPr lang="en-US" altLang="ko-KR" sz="2000">
                <a:latin typeface="+mn-ea"/>
              </a:rPr>
              <a:t>CRUD</a:t>
            </a:r>
            <a:r>
              <a:rPr lang="ko-KR" altLang="en-US" sz="2000">
                <a:latin typeface="+mn-ea"/>
              </a:rPr>
              <a:t>가 아니라 “업무 규칙” 포함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예</a:t>
            </a:r>
            <a:r>
              <a:rPr lang="en-US" altLang="ko-KR" sz="2000">
                <a:latin typeface="+mn-ea"/>
              </a:rPr>
              <a:t>:</a:t>
            </a:r>
            <a:r>
              <a:rPr lang="ko-KR" altLang="en-US" sz="2000">
                <a:latin typeface="+mn-ea"/>
              </a:rPr>
              <a:t>주문은 최소 </a:t>
            </a:r>
            <a:r>
              <a:rPr lang="en-US" altLang="ko-KR" sz="2000">
                <a:latin typeface="+mn-ea"/>
              </a:rPr>
              <a:t>1</a:t>
            </a:r>
            <a:r>
              <a:rPr lang="ko-KR" altLang="en-US" sz="2000">
                <a:latin typeface="+mn-ea"/>
              </a:rPr>
              <a:t>개 상품 필요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이미 배송 시작된 주문은 취소 불가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트랜잭션 경계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하나의 </a:t>
            </a:r>
            <a:r>
              <a:rPr lang="en-US" altLang="ko-KR" sz="2000">
                <a:latin typeface="+mn-ea"/>
              </a:rPr>
              <a:t>Aggregate</a:t>
            </a:r>
            <a:r>
              <a:rPr lang="ko-KR" altLang="en-US" sz="2000">
                <a:latin typeface="+mn-ea"/>
              </a:rPr>
              <a:t>는 한 트랜잭션으로 처리</a:t>
            </a:r>
            <a:endParaRPr lang="en-US" altLang="ko-KR" sz="2000">
              <a:latin typeface="+mn-ea"/>
            </a:endParaRPr>
          </a:p>
          <a:p>
            <a:pPr marL="800100" lvl="1" indent="-342900">
              <a:spcAft>
                <a:spcPts val="1200"/>
              </a:spcAft>
              <a:buSzPct val="120000"/>
              <a:buFont typeface="Arial" panose="020B0604020202020204" pitchFamily="34" charset="0"/>
              <a:buChar char="•"/>
            </a:pPr>
            <a:r>
              <a:rPr lang="ko-KR" altLang="en-US" sz="2000">
                <a:latin typeface="+mn-ea"/>
              </a:rPr>
              <a:t>외부는 직접 내부 객체 접근 불가</a:t>
            </a:r>
            <a:endParaRPr lang="en-US" altLang="ko-KR" sz="20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31669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5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4154984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비즈니스 도메인 분석 </a:t>
            </a:r>
            <a:r>
              <a:rPr lang="en-US" altLang="ko-KR">
                <a:latin typeface="+mj-ea"/>
              </a:rPr>
              <a:t>(DDD </a:t>
            </a:r>
            <a:r>
              <a:rPr lang="ko-KR" altLang="en-US">
                <a:latin typeface="+mj-ea"/>
              </a:rPr>
              <a:t>관점</a:t>
            </a:r>
            <a:r>
              <a:rPr lang="en-US" altLang="ko-KR">
                <a:latin typeface="+mj-ea"/>
              </a:rPr>
              <a:t>)</a:t>
            </a:r>
            <a:endParaRPr lang="ko-KR" altLang="en-US" dirty="0"/>
          </a:p>
        </p:txBody>
      </p:sp>
      <p:sp>
        <p:nvSpPr>
          <p:cNvPr id="26" name="텍스트 개체 틀 25"/>
          <p:cNvSpPr>
            <a:spLocks noGrp="1"/>
          </p:cNvSpPr>
          <p:nvPr>
            <p:ph type="body" sz="quarter" idx="13"/>
          </p:nvPr>
        </p:nvSpPr>
        <p:spPr>
          <a:xfrm>
            <a:off x="663784" y="1307342"/>
            <a:ext cx="8980272" cy="333233"/>
          </a:xfrm>
        </p:spPr>
        <p:txBody>
          <a:bodyPr/>
          <a:lstStyle/>
          <a:p>
            <a:r>
              <a:rPr lang="ko-KR" altLang="en-US" sz="2400"/>
              <a:t>상품</a:t>
            </a:r>
            <a:r>
              <a:rPr lang="en-US" altLang="ko-KR" sz="2400"/>
              <a:t>/</a:t>
            </a:r>
            <a:r>
              <a:rPr lang="ko-KR" altLang="en-US" sz="2400"/>
              <a:t>품목 도메인</a:t>
            </a:r>
            <a:endParaRPr lang="ko-KR" altLang="en-US" sz="2400" b="0" dirty="0">
              <a:latin typeface="+mj-ea"/>
              <a:ea typeface="+mj-ea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925F758-7745-48F4-BA01-48DA1316D1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699118"/>
              </p:ext>
            </p:extLst>
          </p:nvPr>
        </p:nvGraphicFramePr>
        <p:xfrm>
          <a:off x="876160" y="1977110"/>
          <a:ext cx="8543924" cy="1828800"/>
        </p:xfrm>
        <a:graphic>
          <a:graphicData uri="http://schemas.openxmlformats.org/drawingml/2006/table">
            <a:tbl>
              <a:tblPr/>
              <a:tblGrid>
                <a:gridCol w="4271962">
                  <a:extLst>
                    <a:ext uri="{9D8B030D-6E8A-4147-A177-3AD203B41FA5}">
                      <a16:colId xmlns:a16="http://schemas.microsoft.com/office/drawing/2014/main" val="2122280842"/>
                    </a:ext>
                  </a:extLst>
                </a:gridCol>
                <a:gridCol w="4271962">
                  <a:extLst>
                    <a:ext uri="{9D8B030D-6E8A-4147-A177-3AD203B41FA5}">
                      <a16:colId xmlns:a16="http://schemas.microsoft.com/office/drawing/2014/main" val="144344163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/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/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35794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Bounded Context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Product Catalog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076432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ko-KR" altLang="en-US" sz="1800"/>
                        <a:t>책임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/>
                        <a:t>품목</a:t>
                      </a:r>
                      <a:r>
                        <a:rPr lang="en-US" altLang="ko-KR" sz="1800"/>
                        <a:t>, </a:t>
                      </a:r>
                      <a:r>
                        <a:rPr lang="ko-KR" altLang="en-US" sz="1800"/>
                        <a:t>규격</a:t>
                      </a:r>
                      <a:r>
                        <a:rPr lang="en-US" altLang="ko-KR" sz="1800"/>
                        <a:t>, </a:t>
                      </a:r>
                      <a:r>
                        <a:rPr lang="ko-KR" altLang="en-US" sz="1800"/>
                        <a:t>카테고리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281948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Microservice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Product Service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4106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Product 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301795"/>
                  </a:ext>
                </a:extLst>
              </a:tr>
            </a:tbl>
          </a:graphicData>
        </a:graphic>
      </p:graphicFrame>
      <p:sp>
        <p:nvSpPr>
          <p:cNvPr id="12" name="텍스트 개체 틀 25">
            <a:extLst>
              <a:ext uri="{FF2B5EF4-FFF2-40B4-BE49-F238E27FC236}">
                <a16:creationId xmlns:a16="http://schemas.microsoft.com/office/drawing/2014/main" id="{3DE6D2B9-01A5-42CE-A868-449443DAFFA0}"/>
              </a:ext>
            </a:extLst>
          </p:cNvPr>
          <p:cNvSpPr txBox="1">
            <a:spLocks/>
          </p:cNvSpPr>
          <p:nvPr/>
        </p:nvSpPr>
        <p:spPr>
          <a:xfrm>
            <a:off x="663784" y="4311917"/>
            <a:ext cx="8980272" cy="3332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/>
              <a:t>가격</a:t>
            </a:r>
            <a:r>
              <a:rPr lang="en-US" altLang="ko-KR" sz="2400"/>
              <a:t>/</a:t>
            </a:r>
            <a:r>
              <a:rPr lang="ko-KR" altLang="en-US" sz="2400"/>
              <a:t>정책 도메인</a:t>
            </a:r>
            <a:endParaRPr lang="ko-KR" altLang="en-US" sz="2400" b="0">
              <a:latin typeface="+mj-ea"/>
              <a:ea typeface="+mj-ea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B47E0F7-EB91-4EB5-B13C-01C08A5CF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260031"/>
              </p:ext>
            </p:extLst>
          </p:nvPr>
        </p:nvGraphicFramePr>
        <p:xfrm>
          <a:off x="846605" y="4898891"/>
          <a:ext cx="8543924" cy="1737360"/>
        </p:xfrm>
        <a:graphic>
          <a:graphicData uri="http://schemas.openxmlformats.org/drawingml/2006/table">
            <a:tbl>
              <a:tblPr/>
              <a:tblGrid>
                <a:gridCol w="4271962">
                  <a:extLst>
                    <a:ext uri="{9D8B030D-6E8A-4147-A177-3AD203B41FA5}">
                      <a16:colId xmlns:a16="http://schemas.microsoft.com/office/drawing/2014/main" val="441519488"/>
                    </a:ext>
                  </a:extLst>
                </a:gridCol>
                <a:gridCol w="4271962">
                  <a:extLst>
                    <a:ext uri="{9D8B030D-6E8A-4147-A177-3AD203B41FA5}">
                      <a16:colId xmlns:a16="http://schemas.microsoft.com/office/drawing/2014/main" val="172979458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/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/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74373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Bounded Context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Pricing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402087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ko-KR" altLang="en-US" sz="1800"/>
                        <a:t>책임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/>
                        <a:t>거래처별 가격</a:t>
                      </a:r>
                      <a:r>
                        <a:rPr lang="en-US" altLang="ko-KR" sz="1800"/>
                        <a:t>, </a:t>
                      </a:r>
                      <a:r>
                        <a:rPr lang="ko-KR" altLang="en-US" sz="1800"/>
                        <a:t>할인</a:t>
                      </a:r>
                      <a:r>
                        <a:rPr lang="en-US" altLang="ko-KR" sz="1800"/>
                        <a:t>, </a:t>
                      </a:r>
                      <a:r>
                        <a:rPr lang="ko-KR" altLang="en-US" sz="1800"/>
                        <a:t>계약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321522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/>
                        <a:t>Microservice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Pricing Service (</a:t>
                      </a:r>
                      <a:r>
                        <a:rPr lang="ko-KR" altLang="en-US" sz="1800" b="1"/>
                        <a:t>초기에는 </a:t>
                      </a:r>
                      <a:r>
                        <a:rPr lang="en-US" sz="1800" b="1"/>
                        <a:t>Order</a:t>
                      </a:r>
                      <a:r>
                        <a:rPr lang="ko-KR" altLang="en-US" sz="1800" b="1"/>
                        <a:t>에 포함 가능</a:t>
                      </a:r>
                      <a:r>
                        <a:rPr lang="en-US" altLang="ko-KR" sz="1800" b="1"/>
                        <a:t>)</a:t>
                      </a:r>
                      <a:endParaRPr lang="ko-KR" alt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3555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3870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6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4154984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비즈니스 도메인 분석 </a:t>
            </a:r>
            <a:r>
              <a:rPr lang="en-US" altLang="ko-KR">
                <a:latin typeface="+mj-ea"/>
              </a:rPr>
              <a:t>(DDD </a:t>
            </a:r>
            <a:r>
              <a:rPr lang="ko-KR" altLang="en-US">
                <a:latin typeface="+mj-ea"/>
              </a:rPr>
              <a:t>관점</a:t>
            </a:r>
            <a:r>
              <a:rPr lang="en-US" altLang="ko-KR">
                <a:latin typeface="+mj-ea"/>
              </a:rPr>
              <a:t>)</a:t>
            </a:r>
            <a:endParaRPr lang="ko-KR" altLang="en-US" dirty="0"/>
          </a:p>
        </p:txBody>
      </p:sp>
      <p:sp>
        <p:nvSpPr>
          <p:cNvPr id="26" name="텍스트 개체 틀 25"/>
          <p:cNvSpPr>
            <a:spLocks noGrp="1"/>
          </p:cNvSpPr>
          <p:nvPr>
            <p:ph type="body" sz="quarter" idx="13"/>
          </p:nvPr>
        </p:nvSpPr>
        <p:spPr>
          <a:xfrm>
            <a:off x="663784" y="1307342"/>
            <a:ext cx="8980272" cy="333233"/>
          </a:xfrm>
        </p:spPr>
        <p:txBody>
          <a:bodyPr/>
          <a:lstStyle/>
          <a:p>
            <a:r>
              <a:rPr lang="ko-KR" altLang="en-US" sz="2400"/>
              <a:t>주문 도메인</a:t>
            </a:r>
            <a:endParaRPr lang="ko-KR" altLang="en-US" sz="2400" b="0" dirty="0">
              <a:latin typeface="+mj-ea"/>
              <a:ea typeface="+mj-ea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12" name="텍스트 개체 틀 25">
            <a:extLst>
              <a:ext uri="{FF2B5EF4-FFF2-40B4-BE49-F238E27FC236}">
                <a16:creationId xmlns:a16="http://schemas.microsoft.com/office/drawing/2014/main" id="{3DE6D2B9-01A5-42CE-A868-449443DAFFA0}"/>
              </a:ext>
            </a:extLst>
          </p:cNvPr>
          <p:cNvSpPr txBox="1">
            <a:spLocks/>
          </p:cNvSpPr>
          <p:nvPr/>
        </p:nvSpPr>
        <p:spPr>
          <a:xfrm>
            <a:off x="663784" y="4311917"/>
            <a:ext cx="8980272" cy="3332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/>
              <a:t>재고 도메인</a:t>
            </a:r>
            <a:endParaRPr lang="ko-KR" altLang="en-US" sz="2400" b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1CD2A2A-0AF4-4E86-9872-CD8A88EEBE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7742566"/>
              </p:ext>
            </p:extLst>
          </p:nvPr>
        </p:nvGraphicFramePr>
        <p:xfrm>
          <a:off x="681038" y="1990487"/>
          <a:ext cx="8543924" cy="1463040"/>
        </p:xfrm>
        <a:graphic>
          <a:graphicData uri="http://schemas.openxmlformats.org/drawingml/2006/table">
            <a:tbl>
              <a:tblPr/>
              <a:tblGrid>
                <a:gridCol w="4271962">
                  <a:extLst>
                    <a:ext uri="{9D8B030D-6E8A-4147-A177-3AD203B41FA5}">
                      <a16:colId xmlns:a16="http://schemas.microsoft.com/office/drawing/2014/main" val="2784483621"/>
                    </a:ext>
                  </a:extLst>
                </a:gridCol>
                <a:gridCol w="4271962">
                  <a:extLst>
                    <a:ext uri="{9D8B030D-6E8A-4147-A177-3AD203B41FA5}">
                      <a16:colId xmlns:a16="http://schemas.microsoft.com/office/drawing/2014/main" val="278138391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/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/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92979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Bounded Context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Order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79718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ko-KR" altLang="en-US" sz="1800"/>
                        <a:t>책임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/>
                        <a:t>주문 생성</a:t>
                      </a:r>
                      <a:r>
                        <a:rPr lang="en-US" altLang="ko-KR" sz="1800"/>
                        <a:t>, </a:t>
                      </a:r>
                      <a:r>
                        <a:rPr lang="ko-KR" altLang="en-US" sz="1800"/>
                        <a:t>상태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73379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Microservice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Order Service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3950992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C3C506B-6BB5-409F-AC3B-9CB0DDACB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500670"/>
              </p:ext>
            </p:extLst>
          </p:nvPr>
        </p:nvGraphicFramePr>
        <p:xfrm>
          <a:off x="563808" y="4969067"/>
          <a:ext cx="8543924" cy="1463040"/>
        </p:xfrm>
        <a:graphic>
          <a:graphicData uri="http://schemas.openxmlformats.org/drawingml/2006/table">
            <a:tbl>
              <a:tblPr/>
              <a:tblGrid>
                <a:gridCol w="4271962">
                  <a:extLst>
                    <a:ext uri="{9D8B030D-6E8A-4147-A177-3AD203B41FA5}">
                      <a16:colId xmlns:a16="http://schemas.microsoft.com/office/drawing/2014/main" val="832450000"/>
                    </a:ext>
                  </a:extLst>
                </a:gridCol>
                <a:gridCol w="4271962">
                  <a:extLst>
                    <a:ext uri="{9D8B030D-6E8A-4147-A177-3AD203B41FA5}">
                      <a16:colId xmlns:a16="http://schemas.microsoft.com/office/drawing/2014/main" val="307480071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/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/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4014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Bounded Context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Inventory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4198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ko-KR" altLang="en-US" sz="1800"/>
                        <a:t>책임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800"/>
                        <a:t>재고 수량</a:t>
                      </a:r>
                      <a:r>
                        <a:rPr lang="en-US" altLang="ko-KR" sz="1800"/>
                        <a:t>, </a:t>
                      </a:r>
                      <a:r>
                        <a:rPr lang="ko-KR" altLang="en-US" sz="1800"/>
                        <a:t>예약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826429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Microservice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Inventory Service</a:t>
                      </a:r>
                      <a:endParaRPr lang="en-US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8522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7648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7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4196662" cy="333233"/>
          </a:xfrm>
        </p:spPr>
        <p:txBody>
          <a:bodyPr/>
          <a:lstStyle/>
          <a:p>
            <a:r>
              <a:rPr lang="ko-KR" altLang="en-US">
                <a:latin typeface="+mj-ea"/>
              </a:rPr>
              <a:t>데이터 구조 분석 </a:t>
            </a:r>
            <a:r>
              <a:rPr lang="en-US" altLang="ko-KR">
                <a:latin typeface="+mj-ea"/>
              </a:rPr>
              <a:t>(</a:t>
            </a:r>
            <a:r>
              <a:rPr lang="ko-KR" altLang="en-US">
                <a:latin typeface="+mj-ea"/>
              </a:rPr>
              <a:t>현재 </a:t>
            </a:r>
            <a:r>
              <a:rPr lang="en-US" altLang="ko-KR">
                <a:latin typeface="+mj-ea"/>
              </a:rPr>
              <a:t>ERD </a:t>
            </a:r>
            <a:r>
              <a:rPr lang="ko-KR" altLang="en-US">
                <a:latin typeface="+mj-ea"/>
              </a:rPr>
              <a:t>기준</a:t>
            </a:r>
            <a:r>
              <a:rPr lang="en-US" altLang="ko-KR">
                <a:latin typeface="+mj-ea"/>
              </a:rPr>
              <a:t>)</a:t>
            </a:r>
            <a:endParaRPr lang="ko-KR" altLang="en-US" dirty="0"/>
          </a:p>
        </p:txBody>
      </p:sp>
      <p:sp>
        <p:nvSpPr>
          <p:cNvPr id="26" name="텍스트 개체 틀 25"/>
          <p:cNvSpPr>
            <a:spLocks noGrp="1"/>
          </p:cNvSpPr>
          <p:nvPr>
            <p:ph type="body" sz="quarter" idx="13"/>
          </p:nvPr>
        </p:nvSpPr>
        <p:spPr>
          <a:xfrm>
            <a:off x="663784" y="1307342"/>
            <a:ext cx="8980272" cy="333233"/>
          </a:xfrm>
        </p:spPr>
        <p:txBody>
          <a:bodyPr/>
          <a:lstStyle/>
          <a:p>
            <a:r>
              <a:rPr lang="ko-KR" altLang="en-US" sz="2400"/>
              <a:t>분석 포인트</a:t>
            </a:r>
            <a:endParaRPr lang="ko-KR" altLang="en-US" sz="2400" b="0" dirty="0">
              <a:latin typeface="+mj-ea"/>
              <a:ea typeface="+mj-ea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02</a:t>
            </a:r>
            <a:endParaRPr lang="ko-KR" altLang="en-US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443B6DF6-ACE9-485F-BFF3-4455575E2AD0}"/>
              </a:ext>
            </a:extLst>
          </p:cNvPr>
          <p:cNvSpPr/>
          <p:nvPr/>
        </p:nvSpPr>
        <p:spPr>
          <a:xfrm>
            <a:off x="1098861" y="1847956"/>
            <a:ext cx="6887391" cy="132343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테이블 간 강한 결합 </a:t>
            </a:r>
            <a:r>
              <a:rPr lang="en-US" altLang="ko-KR" sz="2000">
                <a:latin typeface="+mn-ea"/>
              </a:rPr>
              <a:t>(FK </a:t>
            </a:r>
            <a:r>
              <a:rPr lang="ko-KR" altLang="en-US" sz="2000">
                <a:latin typeface="+mn-ea"/>
              </a:rPr>
              <a:t>의존도</a:t>
            </a:r>
            <a:r>
              <a:rPr lang="en-US" altLang="ko-KR" sz="2000">
                <a:latin typeface="+mn-ea"/>
              </a:rPr>
              <a:t>)</a:t>
            </a: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Shared DB </a:t>
            </a:r>
            <a:r>
              <a:rPr lang="ko-KR" altLang="en-US" sz="2000">
                <a:latin typeface="+mn-ea"/>
              </a:rPr>
              <a:t>구조 여부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트랜잭션 범위 </a:t>
            </a:r>
            <a:r>
              <a:rPr lang="en-US" altLang="ko-KR" sz="2000">
                <a:latin typeface="+mn-ea"/>
              </a:rPr>
              <a:t>(ACID → </a:t>
            </a:r>
            <a:r>
              <a:rPr lang="ko-KR" altLang="en-US" sz="2000">
                <a:latin typeface="+mn-ea"/>
              </a:rPr>
              <a:t>분산 트랜잭션</a:t>
            </a:r>
            <a:r>
              <a:rPr lang="en-US" altLang="ko-KR" sz="2000">
                <a:latin typeface="+mn-ea"/>
              </a:rPr>
              <a:t>)</a:t>
            </a:r>
            <a:endParaRPr lang="en-US" altLang="ko-KR" sz="2000" dirty="0">
              <a:latin typeface="+mn-ea"/>
            </a:endParaRPr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663784" y="3545545"/>
            <a:ext cx="8980272" cy="3332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/>
              <a:t>확인 사항</a:t>
            </a:r>
            <a:endParaRPr lang="ko-KR" altLang="en-US" sz="2400" b="0" dirty="0"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20B3DC-FBB0-4BA1-A49B-93D6516E3F09}"/>
              </a:ext>
            </a:extLst>
          </p:cNvPr>
          <p:cNvSpPr/>
          <p:nvPr/>
        </p:nvSpPr>
        <p:spPr>
          <a:xfrm>
            <a:off x="1098861" y="4044071"/>
            <a:ext cx="6887391" cy="132343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Master </a:t>
            </a:r>
            <a:r>
              <a:rPr lang="ko-KR" altLang="en-US" sz="2000">
                <a:latin typeface="+mn-ea"/>
              </a:rPr>
              <a:t>데이터 </a:t>
            </a:r>
            <a:r>
              <a:rPr lang="en-US" altLang="ko-KR" sz="2000">
                <a:latin typeface="+mn-ea"/>
              </a:rPr>
              <a:t>vs Transaction </a:t>
            </a:r>
            <a:r>
              <a:rPr lang="ko-KR" altLang="en-US" sz="2000">
                <a:latin typeface="+mn-ea"/>
              </a:rPr>
              <a:t>데이터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데이터 소유권 </a:t>
            </a:r>
            <a:r>
              <a:rPr lang="en-US" altLang="ko-KR" sz="2000">
                <a:latin typeface="+mn-ea"/>
              </a:rPr>
              <a:t>(Data Ownership)</a:t>
            </a: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중복 허용 가능 여부</a:t>
            </a:r>
            <a:endParaRPr lang="en-US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67671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8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2896627" cy="333233"/>
          </a:xfrm>
        </p:spPr>
        <p:txBody>
          <a:bodyPr/>
          <a:lstStyle/>
          <a:p>
            <a:r>
              <a:rPr lang="ko-KR" altLang="en-US"/>
              <a:t>트랜잭션 </a:t>
            </a:r>
            <a:r>
              <a:rPr lang="en-US" altLang="ko-KR"/>
              <a:t>&amp; </a:t>
            </a:r>
            <a:r>
              <a:rPr lang="ko-KR" altLang="en-US"/>
              <a:t>일관성 분석</a:t>
            </a:r>
            <a:endParaRPr lang="ko-KR" altLang="en-US" dirty="0"/>
          </a:p>
        </p:txBody>
      </p:sp>
      <p:sp>
        <p:nvSpPr>
          <p:cNvPr id="26" name="텍스트 개체 틀 25"/>
          <p:cNvSpPr>
            <a:spLocks noGrp="1"/>
          </p:cNvSpPr>
          <p:nvPr>
            <p:ph type="body" sz="quarter" idx="13"/>
          </p:nvPr>
        </p:nvSpPr>
        <p:spPr>
          <a:xfrm>
            <a:off x="663784" y="1307342"/>
            <a:ext cx="8980272" cy="333233"/>
          </a:xfrm>
        </p:spPr>
        <p:txBody>
          <a:bodyPr/>
          <a:lstStyle/>
          <a:p>
            <a:r>
              <a:rPr lang="ko-KR" altLang="en-US" sz="2400"/>
              <a:t>분석 대상</a:t>
            </a:r>
            <a:endParaRPr lang="ko-KR" altLang="en-US" sz="2400" b="0" dirty="0">
              <a:latin typeface="+mj-ea"/>
              <a:ea typeface="+mj-ea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03</a:t>
            </a:r>
            <a:endParaRPr lang="ko-KR" altLang="en-US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443B6DF6-ACE9-485F-BFF3-4455575E2AD0}"/>
              </a:ext>
            </a:extLst>
          </p:cNvPr>
          <p:cNvSpPr/>
          <p:nvPr/>
        </p:nvSpPr>
        <p:spPr>
          <a:xfrm>
            <a:off x="1098861" y="1847956"/>
            <a:ext cx="6887391" cy="861774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주문 → 결제 → 재고 → 배송 흐름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롤백 처리 방식</a:t>
            </a:r>
            <a:endParaRPr lang="en-US" altLang="ko-KR" sz="2000" dirty="0">
              <a:latin typeface="+mn-ea"/>
            </a:endParaRPr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663784" y="2896868"/>
            <a:ext cx="8980272" cy="3332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/>
              <a:t>전환 방식</a:t>
            </a:r>
            <a:endParaRPr lang="ko-KR" altLang="en-US" sz="2400" b="0" dirty="0"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20B3DC-FBB0-4BA1-A49B-93D6516E3F09}"/>
              </a:ext>
            </a:extLst>
          </p:cNvPr>
          <p:cNvSpPr/>
          <p:nvPr/>
        </p:nvSpPr>
        <p:spPr>
          <a:xfrm>
            <a:off x="1098861" y="3395394"/>
            <a:ext cx="6887391" cy="861774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2PC → Eventual Consistency</a:t>
            </a: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Sync → Async</a:t>
            </a:r>
            <a:endParaRPr lang="en-US" altLang="ko-KR" sz="2000" dirty="0">
              <a:latin typeface="+mn-ea"/>
            </a:endParaRPr>
          </a:p>
        </p:txBody>
      </p:sp>
      <p:sp>
        <p:nvSpPr>
          <p:cNvPr id="10" name="텍스트 개체 틀 25">
            <a:extLst>
              <a:ext uri="{FF2B5EF4-FFF2-40B4-BE49-F238E27FC236}">
                <a16:creationId xmlns:a16="http://schemas.microsoft.com/office/drawing/2014/main" id="{6833D6ED-2C7C-4833-98C3-271D36D600FA}"/>
              </a:ext>
            </a:extLst>
          </p:cNvPr>
          <p:cNvSpPr txBox="1">
            <a:spLocks/>
          </p:cNvSpPr>
          <p:nvPr/>
        </p:nvSpPr>
        <p:spPr>
          <a:xfrm>
            <a:off x="761476" y="4646623"/>
            <a:ext cx="8980272" cy="3332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/>
              <a:t>적용 패턴</a:t>
            </a:r>
            <a:endParaRPr lang="ko-KR" altLang="en-US" sz="2400" b="0" dirty="0">
              <a:latin typeface="+mj-ea"/>
              <a:ea typeface="+mj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2276FDE-3B59-4D82-ACFD-391FB09B1645}"/>
              </a:ext>
            </a:extLst>
          </p:cNvPr>
          <p:cNvSpPr/>
          <p:nvPr/>
        </p:nvSpPr>
        <p:spPr>
          <a:xfrm>
            <a:off x="1196553" y="5145149"/>
            <a:ext cx="6887391" cy="861774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SAGA Pattern</a:t>
            </a: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Event-driven architecture</a:t>
            </a:r>
            <a:endParaRPr lang="en-US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04589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9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2896627" cy="333233"/>
          </a:xfrm>
        </p:spPr>
        <p:txBody>
          <a:bodyPr/>
          <a:lstStyle/>
          <a:p>
            <a:r>
              <a:rPr lang="ko-KR" altLang="en-US"/>
              <a:t>애플리케이션 구조 분석</a:t>
            </a:r>
            <a:endParaRPr lang="ko-KR" altLang="en-US" dirty="0"/>
          </a:p>
        </p:txBody>
      </p:sp>
      <p:sp>
        <p:nvSpPr>
          <p:cNvPr id="26" name="텍스트 개체 틀 25"/>
          <p:cNvSpPr>
            <a:spLocks noGrp="1"/>
          </p:cNvSpPr>
          <p:nvPr>
            <p:ph type="body" sz="quarter" idx="13"/>
          </p:nvPr>
        </p:nvSpPr>
        <p:spPr>
          <a:xfrm>
            <a:off x="663784" y="1307342"/>
            <a:ext cx="8980272" cy="333233"/>
          </a:xfrm>
        </p:spPr>
        <p:txBody>
          <a:bodyPr/>
          <a:lstStyle/>
          <a:p>
            <a:r>
              <a:rPr lang="ko-KR" altLang="en-US" sz="2400"/>
              <a:t>분석 대상</a:t>
            </a:r>
            <a:endParaRPr lang="ko-KR" altLang="en-US" sz="2400" b="0" dirty="0">
              <a:latin typeface="+mj-ea"/>
              <a:ea typeface="+mj-ea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04</a:t>
            </a:r>
            <a:endParaRPr lang="ko-KR" altLang="en-US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443B6DF6-ACE9-485F-BFF3-4455575E2AD0}"/>
              </a:ext>
            </a:extLst>
          </p:cNvPr>
          <p:cNvSpPr/>
          <p:nvPr/>
        </p:nvSpPr>
        <p:spPr>
          <a:xfrm>
            <a:off x="1098861" y="1847956"/>
            <a:ext cx="6887391" cy="132343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모듈 구조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서비스 간 호출 관계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공통 로직 </a:t>
            </a:r>
            <a:r>
              <a:rPr lang="en-US" altLang="ko-KR" sz="2000">
                <a:latin typeface="+mn-ea"/>
              </a:rPr>
              <a:t>(Shared Library)</a:t>
            </a:r>
            <a:endParaRPr lang="en-US" altLang="ko-KR" sz="2000" dirty="0">
              <a:latin typeface="+mn-ea"/>
            </a:endParaRPr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749753" y="3686606"/>
            <a:ext cx="8980272" cy="3332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/>
              <a:t>체크 포인트</a:t>
            </a:r>
            <a:endParaRPr lang="ko-KR" altLang="en-US" sz="2400" b="0" dirty="0"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20B3DC-FBB0-4BA1-A49B-93D6516E3F09}"/>
              </a:ext>
            </a:extLst>
          </p:cNvPr>
          <p:cNvSpPr/>
          <p:nvPr/>
        </p:nvSpPr>
        <p:spPr>
          <a:xfrm>
            <a:off x="1184830" y="4185132"/>
            <a:ext cx="6887391" cy="861774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강결합 코드 </a:t>
            </a:r>
            <a:r>
              <a:rPr lang="en-US" altLang="ko-KR" sz="2000">
                <a:latin typeface="+mn-ea"/>
              </a:rPr>
              <a:t>(Service </a:t>
            </a:r>
            <a:r>
              <a:rPr lang="ko-KR" altLang="en-US" sz="2000">
                <a:latin typeface="+mn-ea"/>
              </a:rPr>
              <a:t>간 직접 호출</a:t>
            </a:r>
            <a:r>
              <a:rPr lang="en-US" altLang="ko-KR" sz="2000">
                <a:latin typeface="+mn-ea"/>
              </a:rPr>
              <a:t>)</a:t>
            </a: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DB </a:t>
            </a:r>
            <a:r>
              <a:rPr lang="ko-KR" altLang="en-US" sz="2000">
                <a:latin typeface="+mn-ea"/>
              </a:rPr>
              <a:t>직접 접근 </a:t>
            </a:r>
            <a:r>
              <a:rPr lang="en-US" altLang="ko-KR" sz="2000">
                <a:latin typeface="+mn-ea"/>
              </a:rPr>
              <a:t>(</a:t>
            </a:r>
            <a:r>
              <a:rPr lang="ko-KR" altLang="en-US" sz="2000">
                <a:latin typeface="+mn-ea"/>
              </a:rPr>
              <a:t>타 서비스 </a:t>
            </a:r>
            <a:r>
              <a:rPr lang="en-US" altLang="ko-KR" sz="2000">
                <a:latin typeface="+mn-ea"/>
              </a:rPr>
              <a:t>DB </a:t>
            </a:r>
            <a:r>
              <a:rPr lang="ko-KR" altLang="en-US" sz="2000">
                <a:latin typeface="+mn-ea"/>
              </a:rPr>
              <a:t>접근</a:t>
            </a:r>
            <a:r>
              <a:rPr lang="en-US" altLang="ko-KR" sz="2000">
                <a:latin typeface="+mn-ea"/>
              </a:rPr>
              <a:t>)</a:t>
            </a:r>
            <a:endParaRPr lang="en-US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71453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10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3036088" cy="333233"/>
          </a:xfrm>
        </p:spPr>
        <p:txBody>
          <a:bodyPr/>
          <a:lstStyle/>
          <a:p>
            <a:r>
              <a:rPr lang="ko-KR" altLang="en-US"/>
              <a:t>인프라 및 배포 구조 분석</a:t>
            </a:r>
            <a:endParaRPr lang="ko-KR" altLang="en-US" dirty="0"/>
          </a:p>
        </p:txBody>
      </p:sp>
      <p:sp>
        <p:nvSpPr>
          <p:cNvPr id="26" name="텍스트 개체 틀 25"/>
          <p:cNvSpPr>
            <a:spLocks noGrp="1"/>
          </p:cNvSpPr>
          <p:nvPr>
            <p:ph type="body" sz="quarter" idx="13"/>
          </p:nvPr>
        </p:nvSpPr>
        <p:spPr>
          <a:xfrm>
            <a:off x="663784" y="1307342"/>
            <a:ext cx="8980272" cy="333233"/>
          </a:xfrm>
        </p:spPr>
        <p:txBody>
          <a:bodyPr/>
          <a:lstStyle/>
          <a:p>
            <a:r>
              <a:rPr lang="ko-KR" altLang="en-US" sz="2400"/>
              <a:t>현재 상태 확인</a:t>
            </a:r>
            <a:endParaRPr lang="ko-KR" altLang="en-US" sz="2400" b="0" dirty="0">
              <a:latin typeface="+mj-ea"/>
              <a:ea typeface="+mj-ea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05</a:t>
            </a:r>
            <a:endParaRPr lang="ko-KR" altLang="en-US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443B6DF6-ACE9-485F-BFF3-4455575E2AD0}"/>
              </a:ext>
            </a:extLst>
          </p:cNvPr>
          <p:cNvSpPr/>
          <p:nvPr/>
        </p:nvSpPr>
        <p:spPr>
          <a:xfrm>
            <a:off x="1098861" y="1847956"/>
            <a:ext cx="6887391" cy="132343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배포 방식 </a:t>
            </a:r>
            <a:r>
              <a:rPr lang="en-US" altLang="ko-KR" sz="2000">
                <a:latin typeface="+mn-ea"/>
              </a:rPr>
              <a:t>(</a:t>
            </a:r>
            <a:r>
              <a:rPr lang="ko-KR" altLang="en-US" sz="2000">
                <a:latin typeface="+mn-ea"/>
              </a:rPr>
              <a:t>수동 </a:t>
            </a:r>
            <a:r>
              <a:rPr lang="en-US" altLang="ko-KR" sz="2000">
                <a:latin typeface="+mn-ea"/>
              </a:rPr>
              <a:t>/ CI/CD)</a:t>
            </a: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서버 구조 </a:t>
            </a:r>
            <a:r>
              <a:rPr lang="en-US" altLang="ko-KR" sz="2000">
                <a:latin typeface="+mn-ea"/>
              </a:rPr>
              <a:t>(VM / </a:t>
            </a:r>
            <a:r>
              <a:rPr lang="ko-KR" altLang="en-US" sz="2000">
                <a:latin typeface="+mn-ea"/>
              </a:rPr>
              <a:t>온프레미스</a:t>
            </a:r>
            <a:r>
              <a:rPr lang="en-US" altLang="ko-KR" sz="2000">
                <a:latin typeface="+mn-ea"/>
              </a:rPr>
              <a:t>)</a:t>
            </a: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확장 방식 </a:t>
            </a:r>
            <a:r>
              <a:rPr lang="en-US" altLang="ko-KR" sz="2000">
                <a:latin typeface="+mn-ea"/>
              </a:rPr>
              <a:t>(Scale-up vs Scale-out)</a:t>
            </a:r>
            <a:endParaRPr lang="en-US" altLang="ko-KR" sz="2000" dirty="0">
              <a:latin typeface="+mn-ea"/>
            </a:endParaRPr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749753" y="3686606"/>
            <a:ext cx="8980272" cy="3332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/>
              <a:t>전환 목표</a:t>
            </a:r>
            <a:endParaRPr lang="ko-KR" altLang="en-US" sz="2400" b="0" dirty="0"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20B3DC-FBB0-4BA1-A49B-93D6516E3F09}"/>
              </a:ext>
            </a:extLst>
          </p:cNvPr>
          <p:cNvSpPr/>
          <p:nvPr/>
        </p:nvSpPr>
        <p:spPr>
          <a:xfrm>
            <a:off x="1184830" y="4185132"/>
            <a:ext cx="6887391" cy="132343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컨테이너화 </a:t>
            </a:r>
            <a:r>
              <a:rPr lang="en-US" altLang="ko-KR" sz="2000">
                <a:latin typeface="+mn-ea"/>
              </a:rPr>
              <a:t>(Docker)</a:t>
            </a: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오케스트레이션 </a:t>
            </a:r>
            <a:r>
              <a:rPr lang="en-US" altLang="ko-KR" sz="2000">
                <a:latin typeface="+mn-ea"/>
              </a:rPr>
              <a:t>(Kubernetes)</a:t>
            </a: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CI/CD </a:t>
            </a:r>
            <a:r>
              <a:rPr lang="ko-KR" altLang="en-US" sz="2000">
                <a:latin typeface="+mn-ea"/>
              </a:rPr>
              <a:t>파이프라인 구축</a:t>
            </a:r>
            <a:endParaRPr lang="en-US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01992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FF31CB8-EE0B-4A6A-8561-904A0AB35B79}" type="slidenum">
              <a:rPr lang="ko-KR" altLang="en-US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pPr/>
              <a:t>11</a:t>
            </a:fld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3138" y="480635"/>
            <a:ext cx="2768387" cy="333233"/>
          </a:xfrm>
        </p:spPr>
        <p:txBody>
          <a:bodyPr/>
          <a:lstStyle/>
          <a:p>
            <a:r>
              <a:rPr lang="ko-KR" altLang="en-US"/>
              <a:t>운영 및 품질 관점 분석</a:t>
            </a:r>
            <a:endParaRPr lang="ko-KR" altLang="en-US" dirty="0"/>
          </a:p>
        </p:txBody>
      </p:sp>
      <p:sp>
        <p:nvSpPr>
          <p:cNvPr id="26" name="텍스트 개체 틀 25"/>
          <p:cNvSpPr>
            <a:spLocks noGrp="1"/>
          </p:cNvSpPr>
          <p:nvPr>
            <p:ph type="body" sz="quarter" idx="13"/>
          </p:nvPr>
        </p:nvSpPr>
        <p:spPr>
          <a:xfrm>
            <a:off x="663784" y="1307342"/>
            <a:ext cx="8980272" cy="333233"/>
          </a:xfrm>
        </p:spPr>
        <p:txBody>
          <a:bodyPr/>
          <a:lstStyle/>
          <a:p>
            <a:r>
              <a:rPr lang="ko-KR" altLang="en-US" sz="2400"/>
              <a:t>분석 대상</a:t>
            </a:r>
            <a:endParaRPr lang="ko-KR" altLang="en-US" sz="2400" b="0" dirty="0">
              <a:latin typeface="+mj-ea"/>
              <a:ea typeface="+mj-ea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06</a:t>
            </a:r>
            <a:endParaRPr lang="ko-KR" altLang="en-US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443B6DF6-ACE9-485F-BFF3-4455575E2AD0}"/>
              </a:ext>
            </a:extLst>
          </p:cNvPr>
          <p:cNvSpPr/>
          <p:nvPr/>
        </p:nvSpPr>
        <p:spPr>
          <a:xfrm>
            <a:off x="1098861" y="1847956"/>
            <a:ext cx="6887391" cy="132343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장애 처리 방식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로그 </a:t>
            </a:r>
            <a:r>
              <a:rPr lang="en-US" altLang="ko-KR" sz="2000">
                <a:latin typeface="+mn-ea"/>
              </a:rPr>
              <a:t>/ </a:t>
            </a:r>
            <a:r>
              <a:rPr lang="ko-KR" altLang="en-US" sz="2000">
                <a:latin typeface="+mn-ea"/>
              </a:rPr>
              <a:t>모니터링</a:t>
            </a:r>
            <a:endParaRPr lang="en-US" altLang="ko-KR" sz="2000">
              <a:latin typeface="+mn-ea"/>
            </a:endParaRP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ko-KR" altLang="en-US" sz="2000">
                <a:latin typeface="+mn-ea"/>
              </a:rPr>
              <a:t>성능 병목</a:t>
            </a:r>
            <a:endParaRPr lang="en-US" altLang="ko-KR" sz="2000" dirty="0">
              <a:latin typeface="+mn-ea"/>
            </a:endParaRPr>
          </a:p>
        </p:txBody>
      </p:sp>
      <p:sp>
        <p:nvSpPr>
          <p:cNvPr id="8" name="텍스트 개체 틀 25">
            <a:extLst>
              <a:ext uri="{FF2B5EF4-FFF2-40B4-BE49-F238E27FC236}">
                <a16:creationId xmlns:a16="http://schemas.microsoft.com/office/drawing/2014/main" id="{9CC90728-5553-4506-8850-5C374AC44DB7}"/>
              </a:ext>
            </a:extLst>
          </p:cNvPr>
          <p:cNvSpPr txBox="1">
            <a:spLocks/>
          </p:cNvSpPr>
          <p:nvPr/>
        </p:nvSpPr>
        <p:spPr>
          <a:xfrm>
            <a:off x="749753" y="3686606"/>
            <a:ext cx="8980272" cy="3332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marL="0" indent="0" algn="l" defTabSz="49528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b="1" kern="1200" dirty="0" smtClean="0">
                <a:solidFill>
                  <a:srgbClr val="21569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Arial" panose="020B0604020202020204" pitchFamily="34" charset="0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905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858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9811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/>
              <a:t>전환 시 필요 요소</a:t>
            </a:r>
            <a:endParaRPr lang="ko-KR" altLang="en-US" sz="2400" b="0" dirty="0"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20B3DC-FBB0-4BA1-A49B-93D6516E3F09}"/>
              </a:ext>
            </a:extLst>
          </p:cNvPr>
          <p:cNvSpPr/>
          <p:nvPr/>
        </p:nvSpPr>
        <p:spPr>
          <a:xfrm>
            <a:off x="1184830" y="4185132"/>
            <a:ext cx="6887391" cy="1323439"/>
          </a:xfrm>
          <a:prstGeom prst="rect">
            <a:avLst/>
          </a:prstGeom>
          <a:solidFill>
            <a:schemeClr val="bg1">
              <a:alpha val="99000"/>
            </a:schemeClr>
          </a:solidFill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Observability (</a:t>
            </a:r>
            <a:r>
              <a:rPr lang="ko-KR" altLang="en-US" sz="2000">
                <a:latin typeface="+mn-ea"/>
              </a:rPr>
              <a:t>로그 </a:t>
            </a:r>
            <a:r>
              <a:rPr lang="en-US" altLang="ko-KR" sz="2000">
                <a:latin typeface="+mn-ea"/>
              </a:rPr>
              <a:t>/ </a:t>
            </a:r>
            <a:r>
              <a:rPr lang="ko-KR" altLang="en-US" sz="2000">
                <a:latin typeface="+mn-ea"/>
              </a:rPr>
              <a:t>메트릭 </a:t>
            </a:r>
            <a:r>
              <a:rPr lang="en-US" altLang="ko-KR" sz="2000">
                <a:latin typeface="+mn-ea"/>
              </a:rPr>
              <a:t>/ </a:t>
            </a:r>
            <a:r>
              <a:rPr lang="ko-KR" altLang="en-US" sz="2000">
                <a:latin typeface="+mn-ea"/>
              </a:rPr>
              <a:t>트레이싱</a:t>
            </a:r>
            <a:r>
              <a:rPr lang="en-US" altLang="ko-KR" sz="2000">
                <a:latin typeface="+mn-ea"/>
              </a:rPr>
              <a:t>)</a:t>
            </a: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Circuit Breaker</a:t>
            </a:r>
          </a:p>
          <a:p>
            <a:pPr marL="342900" indent="-342900">
              <a:spcAft>
                <a:spcPts val="1200"/>
              </a:spcAft>
              <a:buSzPct val="120000"/>
              <a:buBlip>
                <a:blip r:embed="rId3"/>
              </a:buBlip>
            </a:pPr>
            <a:r>
              <a:rPr lang="en-US" altLang="ko-KR" sz="2000">
                <a:latin typeface="+mn-ea"/>
              </a:rPr>
              <a:t>Retry / Timeout </a:t>
            </a:r>
            <a:r>
              <a:rPr lang="ko-KR" altLang="en-US" sz="2000">
                <a:latin typeface="+mn-ea"/>
              </a:rPr>
              <a:t>정책</a:t>
            </a:r>
            <a:endParaRPr lang="en-US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74298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Calibri Light"/>
        <a:ea typeface="KoPub돋움체 Bold"/>
        <a:cs typeface=""/>
      </a:majorFont>
      <a:minorFont>
        <a:latin typeface="KoPub돋움체 Light"/>
        <a:ea typeface="KoPub돋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ctr">
          <a:defRPr smtClean="0">
            <a:latin typeface="KoPub돋움체 Medium"/>
            <a:ea typeface="KoPub돋움체 Medium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10486</TotalTime>
  <Words>489</Words>
  <Application>Microsoft Office PowerPoint</Application>
  <PresentationFormat>A4 용지(210x297mm)</PresentationFormat>
  <Paragraphs>165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KoPub돋움체 Bold</vt:lpstr>
      <vt:lpstr>KoPub돋움체 Light</vt:lpstr>
      <vt:lpstr>KoPub돋움체 Medium</vt:lpstr>
      <vt:lpstr>Arial</vt:lpstr>
      <vt:lpstr>Office 테마</vt:lpstr>
      <vt:lpstr>PowerPoint 프레젠테이션</vt:lpstr>
      <vt:lpstr>비즈니스 도메인 분석 (DDD 관점)</vt:lpstr>
      <vt:lpstr>비즈니스 도메인 분석 (DDD 관점)</vt:lpstr>
      <vt:lpstr>비즈니스 도메인 분석 (DDD 관점)</vt:lpstr>
      <vt:lpstr>비즈니스 도메인 분석 (DDD 관점)</vt:lpstr>
      <vt:lpstr>비즈니스 도메인 분석 (DDD 관점)</vt:lpstr>
      <vt:lpstr>데이터 구조 분석 (현재 ERD 기준)</vt:lpstr>
      <vt:lpstr>트랜잭션 &amp; 일관성 분석</vt:lpstr>
      <vt:lpstr>애플리케이션 구조 분석</vt:lpstr>
      <vt:lpstr>인프라 및 배포 구조 분석</vt:lpstr>
      <vt:lpstr>운영 및 품질 관점 분석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Youngkon Lee</cp:lastModifiedBy>
  <cp:revision>8760</cp:revision>
  <dcterms:created xsi:type="dcterms:W3CDTF">2018-09-13T06:27:38Z</dcterms:created>
  <dcterms:modified xsi:type="dcterms:W3CDTF">2026-04-01T14:54:57Z</dcterms:modified>
  <cp:version/>
</cp:coreProperties>
</file>