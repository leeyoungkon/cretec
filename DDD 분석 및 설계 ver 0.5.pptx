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notesMasterIdLst>
    <p:notesMasterId r:id="rId32"/>
  </p:notesMasterIdLst>
  <p:handoutMasterIdLst>
    <p:handoutMasterId r:id="rId33"/>
  </p:handoutMasterIdLst>
  <p:sldIdLst>
    <p:sldId id="3367" r:id="rId2"/>
    <p:sldId id="3397" r:id="rId3"/>
    <p:sldId id="3391" r:id="rId4"/>
    <p:sldId id="3400" r:id="rId5"/>
    <p:sldId id="3401" r:id="rId6"/>
    <p:sldId id="3402" r:id="rId7"/>
    <p:sldId id="3403" r:id="rId8"/>
    <p:sldId id="3404" r:id="rId9"/>
    <p:sldId id="3405" r:id="rId10"/>
    <p:sldId id="3406" r:id="rId11"/>
    <p:sldId id="3407" r:id="rId12"/>
    <p:sldId id="3408" r:id="rId13"/>
    <p:sldId id="3409" r:id="rId14"/>
    <p:sldId id="3410" r:id="rId15"/>
    <p:sldId id="3411" r:id="rId16"/>
    <p:sldId id="3412" r:id="rId17"/>
    <p:sldId id="3413" r:id="rId18"/>
    <p:sldId id="3414" r:id="rId19"/>
    <p:sldId id="3415" r:id="rId20"/>
    <p:sldId id="3416" r:id="rId21"/>
    <p:sldId id="3417" r:id="rId22"/>
    <p:sldId id="3418" r:id="rId23"/>
    <p:sldId id="3419" r:id="rId24"/>
    <p:sldId id="3420" r:id="rId25"/>
    <p:sldId id="3421" r:id="rId26"/>
    <p:sldId id="3422" r:id="rId27"/>
    <p:sldId id="3423" r:id="rId28"/>
    <p:sldId id="3424" r:id="rId29"/>
    <p:sldId id="3425" r:id="rId30"/>
    <p:sldId id="3426" r:id="rId31"/>
  </p:sldIdLst>
  <p:sldSz cx="9906000" cy="6858000" type="A4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569E"/>
    <a:srgbClr val="FCFEFE"/>
    <a:srgbClr val="FFFFFF"/>
    <a:srgbClr val="0000FF"/>
    <a:srgbClr val="129BA6"/>
    <a:srgbClr val="FF9664"/>
    <a:srgbClr val="D24656"/>
    <a:srgbClr val="536D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TxStyle/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TxStyle/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TxStyle/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31" autoAdjust="0"/>
    <p:restoredTop sz="92623" autoAdjust="0"/>
  </p:normalViewPr>
  <p:slideViewPr>
    <p:cSldViewPr snapToGrid="0">
      <p:cViewPr varScale="1">
        <p:scale>
          <a:sx n="89" d="100"/>
          <a:sy n="89" d="100"/>
        </p:scale>
        <p:origin x="1110" y="54"/>
      </p:cViewPr>
      <p:guideLst>
        <p:guide orient="horz" pos="2159"/>
        <p:guide pos="3119"/>
      </p:guideLst>
    </p:cSldViewPr>
  </p:slideViewPr>
  <p:outlineViewPr>
    <p:cViewPr>
      <p:scale>
        <a:sx n="33" d="100"/>
        <a:sy n="33" d="100"/>
      </p:scale>
      <p:origin x="0" y="-9520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50922"/>
    </p:cViewPr>
  </p:sorterViewPr>
  <p:notesViewPr>
    <p:cSldViewPr snapToGrid="0">
      <p:cViewPr varScale="1">
        <p:scale>
          <a:sx n="92" d="100"/>
          <a:sy n="92" d="100"/>
        </p:scale>
        <p:origin x="60" y="168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4301922" cy="340915"/>
          </a:xfrm>
          <a:prstGeom prst="rect">
            <a:avLst/>
          </a:prstGeom>
        </p:spPr>
        <p:txBody>
          <a:bodyPr vert="horz" lIns="91312" tIns="45657" rIns="91312" bIns="45657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>
              <a:latin typeface="KoPub돋움체 Medium"/>
              <a:ea typeface="KoPub돋움체 Medium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3989" y="2"/>
            <a:ext cx="4301922" cy="340915"/>
          </a:xfrm>
          <a:prstGeom prst="rect">
            <a:avLst/>
          </a:prstGeom>
        </p:spPr>
        <p:txBody>
          <a:bodyPr vert="horz" lIns="91312" tIns="45657" rIns="91312" bIns="45657"/>
          <a:lstStyle>
            <a:lvl1pPr algn="r">
              <a:defRPr sz="1200"/>
            </a:lvl1pPr>
          </a:lstStyle>
          <a:p>
            <a:pPr lvl="0">
              <a:defRPr/>
            </a:pPr>
            <a:r>
              <a:rPr lang="en-US" altLang="ko-KR">
                <a:latin typeface="KoPub돋움체 Medium"/>
                <a:ea typeface="KoPub돋움체 Medium"/>
              </a:rPr>
              <a:t>2018-11-21</a:t>
            </a:r>
            <a:endParaRPr lang="ko-KR" altLang="en-US">
              <a:latin typeface="KoPub돋움체 Medium"/>
              <a:ea typeface="KoPub돋움체 Medium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6456761"/>
            <a:ext cx="4301922" cy="340915"/>
          </a:xfrm>
          <a:prstGeom prst="rect">
            <a:avLst/>
          </a:prstGeom>
        </p:spPr>
        <p:txBody>
          <a:bodyPr vert="horz" lIns="91312" tIns="45657" rIns="91312" bIns="45657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>
              <a:latin typeface="KoPub돋움체 Medium"/>
              <a:ea typeface="KoPub돋움체 Medium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3989" y="6456761"/>
            <a:ext cx="4301922" cy="340915"/>
          </a:xfrm>
          <a:prstGeom prst="rect">
            <a:avLst/>
          </a:prstGeom>
        </p:spPr>
        <p:txBody>
          <a:bodyPr vert="horz" lIns="91312" tIns="45657" rIns="91312" bIns="45657" anchor="b"/>
          <a:lstStyle>
            <a:lvl1pPr algn="r">
              <a:defRPr sz="1200"/>
            </a:lvl1pPr>
          </a:lstStyle>
          <a:p>
            <a:pPr lvl="0">
              <a:defRPr/>
            </a:pPr>
            <a:fld id="{65D17C6A-3EEC-42F3-AEAE-7FF8875F99E1}" type="slidenum">
              <a:rPr lang="ko-KR" altLang="en-US">
                <a:latin typeface="KoPub돋움체 Medium"/>
                <a:ea typeface="KoPub돋움체 Medium"/>
              </a:rPr>
              <a:pPr lvl="0">
                <a:defRPr/>
              </a:pPr>
              <a:t>‹#›</a:t>
            </a:fld>
            <a:endParaRPr lang="ko-KR" altLang="en-US">
              <a:latin typeface="KoPub돋움체 Medium"/>
              <a:ea typeface="KoPub돋움체 Medium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4302231" cy="341064"/>
          </a:xfrm>
          <a:prstGeom prst="rect">
            <a:avLst/>
          </a:prstGeom>
        </p:spPr>
        <p:txBody>
          <a:bodyPr vert="horz" lIns="91312" tIns="45657" rIns="91312" bIns="45657"/>
          <a:lstStyle>
            <a:lvl1pPr algn="l">
              <a:defRPr sz="1200">
                <a:latin typeface="KoPub돋움체 Medium"/>
                <a:ea typeface="KoPub돋움체 Medium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9" y="0"/>
            <a:ext cx="4302231" cy="341064"/>
          </a:xfrm>
          <a:prstGeom prst="rect">
            <a:avLst/>
          </a:prstGeom>
        </p:spPr>
        <p:txBody>
          <a:bodyPr vert="horz" lIns="91312" tIns="45657" rIns="91312" bIns="45657"/>
          <a:lstStyle>
            <a:lvl1pPr algn="r">
              <a:defRPr sz="1200">
                <a:latin typeface="KoPub돋움체 Medium"/>
                <a:ea typeface="KoPub돋움체 Medium"/>
              </a:defRPr>
            </a:lvl1pPr>
          </a:lstStyle>
          <a:p>
            <a:pPr lvl="0">
              <a:defRPr/>
            </a:pPr>
            <a:r>
              <a:rPr lang="en-US" altLang="ko-KR"/>
              <a:t>2018-11-21</a:t>
            </a:r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306763" y="849313"/>
            <a:ext cx="3314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7" rIns="91312" bIns="45657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71382"/>
            <a:ext cx="7942580" cy="2676585"/>
          </a:xfrm>
          <a:prstGeom prst="rect">
            <a:avLst/>
          </a:prstGeom>
        </p:spPr>
        <p:txBody>
          <a:bodyPr vert="horz" lIns="91312" tIns="45657" rIns="91312" bIns="45657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6456613"/>
            <a:ext cx="4302231" cy="341063"/>
          </a:xfrm>
          <a:prstGeom prst="rect">
            <a:avLst/>
          </a:prstGeom>
        </p:spPr>
        <p:txBody>
          <a:bodyPr vert="horz" lIns="91312" tIns="45657" rIns="91312" bIns="45657" anchor="b"/>
          <a:lstStyle>
            <a:lvl1pPr algn="l">
              <a:defRPr sz="1200">
                <a:latin typeface="KoPub돋움체 Medium"/>
                <a:ea typeface="KoPub돋움체 Medium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9" y="6456613"/>
            <a:ext cx="4302231" cy="341063"/>
          </a:xfrm>
          <a:prstGeom prst="rect">
            <a:avLst/>
          </a:prstGeom>
        </p:spPr>
        <p:txBody>
          <a:bodyPr vert="horz" lIns="91312" tIns="45657" rIns="91312" bIns="45657" anchor="b"/>
          <a:lstStyle>
            <a:lvl1pPr algn="r">
              <a:defRPr sz="1200">
                <a:latin typeface="KoPub돋움체 Medium"/>
                <a:ea typeface="KoPub돋움체 Medium"/>
              </a:defRPr>
            </a:lvl1pPr>
          </a:lstStyle>
          <a:p>
            <a:pPr lvl="0">
              <a:defRPr/>
            </a:pPr>
            <a:fld id="{E9CDEF3D-52BA-4170-8323-8257CC7BA349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/>
        <a:ea typeface="KoPub돋움체 Medium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oPub돋움체 Medium"/>
        <a:ea typeface="KoPub돋움체 Medium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oPub돋움체 Medium"/>
        <a:ea typeface="KoPub돋움체 Medium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oPub돋움체 Medium"/>
        <a:ea typeface="KoPub돋움체 Medium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oPub돋움체 Medium"/>
        <a:ea typeface="KoPub돋움체 Medium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306763" y="849313"/>
            <a:ext cx="3314700" cy="22939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6507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1912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3580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2107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7636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19318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8775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91405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30649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80464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75494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92385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1150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11052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30339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83236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51884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0736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48241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97200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65133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24381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03611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67489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79201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19110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72228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88815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20435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0144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28887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857250" y="391884"/>
            <a:ext cx="9048750" cy="4782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5" name="제목 46"/>
          <p:cNvSpPr>
            <a:spLocks noGrp="1"/>
          </p:cNvSpPr>
          <p:nvPr>
            <p:ph type="title"/>
          </p:nvPr>
        </p:nvSpPr>
        <p:spPr>
          <a:xfrm>
            <a:off x="993138" y="481469"/>
            <a:ext cx="2946319" cy="332399"/>
          </a:xfrm>
        </p:spPr>
        <p:txBody>
          <a:bodyPr wrap="none" lIns="0" tIns="0" rIns="0" bIns="0" anchor="b" anchorCtr="0">
            <a:spAutoFit/>
          </a:bodyPr>
          <a:lstStyle>
            <a:lvl1pPr marL="0" algn="l" defTabSz="457200" rtl="0" eaLnBrk="1" latinLnBrk="0" hangingPunct="1">
              <a:defRPr lang="ko-KR" altLang="en-US" sz="2400" kern="12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직사각형 5"/>
          <p:cNvSpPr/>
          <p:nvPr userDrawn="1"/>
        </p:nvSpPr>
        <p:spPr>
          <a:xfrm>
            <a:off x="0" y="391885"/>
            <a:ext cx="579120" cy="478236"/>
          </a:xfrm>
          <a:prstGeom prst="rect">
            <a:avLst/>
          </a:prstGeom>
          <a:solidFill>
            <a:srgbClr val="2156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7" name="텍스트 개체 틀 15"/>
          <p:cNvSpPr>
            <a:spLocks noGrp="1"/>
          </p:cNvSpPr>
          <p:nvPr>
            <p:ph type="body" sz="quarter" idx="14" hasCustomPrompt="1"/>
          </p:nvPr>
        </p:nvSpPr>
        <p:spPr>
          <a:xfrm>
            <a:off x="76835" y="511552"/>
            <a:ext cx="425450" cy="276999"/>
          </a:xfrm>
        </p:spPr>
        <p:txBody>
          <a:bodyPr lIns="0" tIns="0" rIns="0" bIns="0" anchor="ctr">
            <a:spAutoFit/>
          </a:bodyPr>
          <a:lstStyle>
            <a:lvl1pPr marL="0" indent="0" algn="ctr" defTabSz="457200" rtl="0" eaLnBrk="1" latinLnBrk="0" hangingPunct="1">
              <a:buNone/>
              <a:defRPr lang="ko-KR" altLang="en-US" sz="2000" kern="1200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defRPr>
            </a:lvl1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8" name="텍스트 개체 틀 45"/>
          <p:cNvSpPr>
            <a:spLocks noGrp="1"/>
          </p:cNvSpPr>
          <p:nvPr>
            <p:ph type="body" sz="quarter" idx="13"/>
          </p:nvPr>
        </p:nvSpPr>
        <p:spPr>
          <a:xfrm>
            <a:off x="577263" y="1068136"/>
            <a:ext cx="8980272" cy="276999"/>
          </a:xfrm>
        </p:spPr>
        <p:txBody>
          <a:bodyPr lIns="0" tIns="0" rIns="0" bIns="0" anchor="ctr">
            <a:spAutoFit/>
          </a:bodyPr>
          <a:lstStyle>
            <a:lvl1pPr marL="0" indent="0" algn="l" defTabSz="495285" rtl="0" eaLnBrk="1" latinLnBrk="0" hangingPunct="1"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>
              <a:buNone/>
              <a:defRPr sz="1300">
                <a:latin typeface="+mn-ea"/>
                <a:ea typeface="+mn-ea"/>
              </a:defRPr>
            </a:lvl2pPr>
            <a:lvl3pPr marL="990570" indent="0">
              <a:buNone/>
              <a:defRPr sz="1300">
                <a:latin typeface="+mn-ea"/>
                <a:ea typeface="+mn-ea"/>
              </a:defRPr>
            </a:lvl3pPr>
            <a:lvl4pPr marL="1485854" indent="0">
              <a:buNone/>
              <a:defRPr sz="1300">
                <a:latin typeface="+mn-ea"/>
                <a:ea typeface="+mn-ea"/>
              </a:defRPr>
            </a:lvl4pPr>
            <a:lvl5pPr marL="1981139" indent="0">
              <a:buNone/>
              <a:defRPr sz="130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664845" y="391885"/>
            <a:ext cx="106680" cy="478236"/>
          </a:xfrm>
          <a:prstGeom prst="rect">
            <a:avLst/>
          </a:prstGeom>
          <a:solidFill>
            <a:srgbClr val="21569E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341075" y="1123729"/>
            <a:ext cx="182382" cy="138112"/>
            <a:chOff x="435418" y="842963"/>
            <a:chExt cx="168353" cy="138112"/>
          </a:xfrm>
        </p:grpSpPr>
        <p:sp>
          <p:nvSpPr>
            <p:cNvPr id="12" name="갈매기형 수장 11"/>
            <p:cNvSpPr/>
            <p:nvPr/>
          </p:nvSpPr>
          <p:spPr>
            <a:xfrm>
              <a:off x="435418" y="842963"/>
              <a:ext cx="92869" cy="138112"/>
            </a:xfrm>
            <a:prstGeom prst="chevron">
              <a:avLst/>
            </a:prstGeom>
            <a:solidFill>
              <a:srgbClr val="2156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3" name="갈매기형 수장 12"/>
            <p:cNvSpPr/>
            <p:nvPr/>
          </p:nvSpPr>
          <p:spPr>
            <a:xfrm>
              <a:off x="510902" y="842963"/>
              <a:ext cx="92869" cy="138112"/>
            </a:xfrm>
            <a:prstGeom prst="chevron">
              <a:avLst/>
            </a:prstGeom>
            <a:solidFill>
              <a:srgbClr val="696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68871" y="6527294"/>
            <a:ext cx="12371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2FF31CB8-EE0B-4A6A-8561-904A0AB35B7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341075" y="1466456"/>
            <a:ext cx="9216460" cy="400110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>
              <a:defRPr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2pPr>
            <a:lvl3pPr>
              <a:defRPr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3pPr>
            <a:lvl4pPr>
              <a:defRPr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4pPr>
            <a:lvl5pPr>
              <a:defRPr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20" name="텍스트 개체 틀 45"/>
          <p:cNvSpPr>
            <a:spLocks noGrp="1"/>
          </p:cNvSpPr>
          <p:nvPr>
            <p:ph type="body" sz="quarter" idx="12"/>
          </p:nvPr>
        </p:nvSpPr>
        <p:spPr>
          <a:xfrm>
            <a:off x="7272472" y="94685"/>
            <a:ext cx="2486818" cy="215444"/>
          </a:xfrm>
        </p:spPr>
        <p:txBody>
          <a:bodyPr wrap="square" lIns="0" tIns="0" rIns="0" bIns="0" anchor="ctr">
            <a:spAutoFit/>
          </a:bodyPr>
          <a:lstStyle>
            <a:lvl1pPr marL="0" indent="0" algn="r" defTabSz="495285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ko-KR" altLang="en-US" sz="1400" kern="1200" spc="-4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>
              <a:buNone/>
              <a:defRPr sz="1300">
                <a:latin typeface="+mn-ea"/>
                <a:ea typeface="+mn-ea"/>
              </a:defRPr>
            </a:lvl2pPr>
            <a:lvl3pPr marL="990570" indent="0">
              <a:buNone/>
              <a:defRPr sz="1300">
                <a:latin typeface="+mn-ea"/>
                <a:ea typeface="+mn-ea"/>
              </a:defRPr>
            </a:lvl3pPr>
            <a:lvl4pPr marL="1485854" indent="0">
              <a:buNone/>
              <a:defRPr sz="1300">
                <a:latin typeface="+mn-ea"/>
                <a:ea typeface="+mn-ea"/>
              </a:defRPr>
            </a:lvl4pPr>
            <a:lvl5pPr marL="1981139" indent="0">
              <a:buNone/>
              <a:defRPr sz="130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</a:t>
            </a:r>
          </a:p>
        </p:txBody>
      </p:sp>
    </p:spTree>
    <p:extLst>
      <p:ext uri="{BB962C8B-B14F-4D97-AF65-F5344CB8AC3E}">
        <p14:creationId xmlns:p14="http://schemas.microsoft.com/office/powerpoint/2010/main" val="27743219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53" userDrawn="1">
          <p15:clr>
            <a:srgbClr val="FBAE40"/>
          </p15:clr>
        </p15:guide>
        <p15:guide id="4" pos="217" userDrawn="1">
          <p15:clr>
            <a:srgbClr val="FBAE40"/>
          </p15:clr>
        </p15:guide>
        <p15:guide id="6" pos="6023" userDrawn="1">
          <p15:clr>
            <a:srgbClr val="FBAE40"/>
          </p15:clr>
        </p15:guide>
        <p15:guide id="8" orient="horz" pos="550" userDrawn="1">
          <p15:clr>
            <a:srgbClr val="FBAE40"/>
          </p15:clr>
        </p15:guide>
        <p15:guide id="9" pos="5887" userDrawn="1">
          <p15:clr>
            <a:srgbClr val="FBAE40"/>
          </p15:clr>
        </p15:guide>
        <p15:guide id="10" orient="horz" pos="2319" userDrawn="1">
          <p15:clr>
            <a:srgbClr val="FBAE40"/>
          </p15:clr>
        </p15:guide>
        <p15:guide id="11" orient="horz" pos="98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75059" y="6527294"/>
            <a:ext cx="10309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2FF31CB8-EE0B-4A6A-8561-904A0AB35B7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텍스트 개체 틀 45"/>
          <p:cNvSpPr>
            <a:spLocks noGrp="1"/>
          </p:cNvSpPr>
          <p:nvPr>
            <p:ph type="body" sz="quarter" idx="12"/>
          </p:nvPr>
        </p:nvSpPr>
        <p:spPr>
          <a:xfrm>
            <a:off x="7272472" y="94685"/>
            <a:ext cx="2486818" cy="215444"/>
          </a:xfrm>
        </p:spPr>
        <p:txBody>
          <a:bodyPr wrap="square" lIns="0" tIns="0" rIns="0" bIns="0" anchor="ctr">
            <a:spAutoFit/>
          </a:bodyPr>
          <a:lstStyle>
            <a:lvl1pPr marL="0" indent="0" algn="r" defTabSz="495285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ko-KR" altLang="en-US" sz="1400" kern="1200" spc="-4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>
              <a:buNone/>
              <a:defRPr sz="1300">
                <a:latin typeface="+mn-ea"/>
                <a:ea typeface="+mn-ea"/>
              </a:defRPr>
            </a:lvl2pPr>
            <a:lvl3pPr marL="990570" indent="0">
              <a:buNone/>
              <a:defRPr sz="1300">
                <a:latin typeface="+mn-ea"/>
                <a:ea typeface="+mn-ea"/>
              </a:defRPr>
            </a:lvl3pPr>
            <a:lvl4pPr marL="1485854" indent="0">
              <a:buNone/>
              <a:defRPr sz="1300">
                <a:latin typeface="+mn-ea"/>
                <a:ea typeface="+mn-ea"/>
              </a:defRPr>
            </a:lvl4pPr>
            <a:lvl5pPr marL="1981139" indent="0">
              <a:buNone/>
              <a:defRPr sz="130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</a:t>
            </a:r>
          </a:p>
        </p:txBody>
      </p:sp>
      <p:sp>
        <p:nvSpPr>
          <p:cNvPr id="14" name="직사각형 13"/>
          <p:cNvSpPr/>
          <p:nvPr userDrawn="1"/>
        </p:nvSpPr>
        <p:spPr>
          <a:xfrm>
            <a:off x="857250" y="391884"/>
            <a:ext cx="9048750" cy="4782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7" name="제목 46"/>
          <p:cNvSpPr>
            <a:spLocks noGrp="1"/>
          </p:cNvSpPr>
          <p:nvPr>
            <p:ph type="title"/>
          </p:nvPr>
        </p:nvSpPr>
        <p:spPr>
          <a:xfrm>
            <a:off x="993138" y="481469"/>
            <a:ext cx="2946319" cy="332399"/>
          </a:xfrm>
        </p:spPr>
        <p:txBody>
          <a:bodyPr wrap="none" lIns="0" tIns="0" rIns="0" bIns="0" anchor="b" anchorCtr="0">
            <a:spAutoFit/>
          </a:bodyPr>
          <a:lstStyle>
            <a:lvl1pPr marL="0" algn="l" defTabSz="457200" rtl="0" eaLnBrk="1" latinLnBrk="0" hangingPunct="1">
              <a:defRPr lang="ko-KR" altLang="en-US" sz="2400" kern="12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직사각형 17"/>
          <p:cNvSpPr/>
          <p:nvPr userDrawn="1"/>
        </p:nvSpPr>
        <p:spPr>
          <a:xfrm>
            <a:off x="0" y="391885"/>
            <a:ext cx="579120" cy="478236"/>
          </a:xfrm>
          <a:prstGeom prst="rect">
            <a:avLst/>
          </a:prstGeom>
          <a:solidFill>
            <a:srgbClr val="2156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2" name="직사각형 21"/>
          <p:cNvSpPr/>
          <p:nvPr userDrawn="1"/>
        </p:nvSpPr>
        <p:spPr>
          <a:xfrm>
            <a:off x="664845" y="391885"/>
            <a:ext cx="106680" cy="478236"/>
          </a:xfrm>
          <a:prstGeom prst="rect">
            <a:avLst/>
          </a:prstGeom>
          <a:solidFill>
            <a:srgbClr val="21569E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9" name="텍스트 개체 틀 45"/>
          <p:cNvSpPr>
            <a:spLocks noGrp="1"/>
          </p:cNvSpPr>
          <p:nvPr>
            <p:ph type="body" sz="quarter" idx="13"/>
          </p:nvPr>
        </p:nvSpPr>
        <p:spPr>
          <a:xfrm>
            <a:off x="577263" y="1066985"/>
            <a:ext cx="8980272" cy="276999"/>
          </a:xfrm>
        </p:spPr>
        <p:txBody>
          <a:bodyPr lIns="0" tIns="0" rIns="0" bIns="0" anchor="ctr">
            <a:spAutoFit/>
          </a:bodyPr>
          <a:lstStyle>
            <a:lvl1pPr marL="0" indent="0" algn="l" defTabSz="495285" rtl="0" eaLnBrk="1" latinLnBrk="0" hangingPunct="1"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>
              <a:buNone/>
              <a:defRPr sz="1300">
                <a:latin typeface="+mn-ea"/>
                <a:ea typeface="+mn-ea"/>
              </a:defRPr>
            </a:lvl2pPr>
            <a:lvl3pPr marL="990570" indent="0">
              <a:buNone/>
              <a:defRPr sz="1300">
                <a:latin typeface="+mn-ea"/>
                <a:ea typeface="+mn-ea"/>
              </a:defRPr>
            </a:lvl3pPr>
            <a:lvl4pPr marL="1485854" indent="0">
              <a:buNone/>
              <a:defRPr sz="1300">
                <a:latin typeface="+mn-ea"/>
                <a:ea typeface="+mn-ea"/>
              </a:defRPr>
            </a:lvl4pPr>
            <a:lvl5pPr marL="1981139" indent="0">
              <a:buNone/>
              <a:defRPr sz="130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30" name="텍스트 개체 틀 15"/>
          <p:cNvSpPr>
            <a:spLocks noGrp="1"/>
          </p:cNvSpPr>
          <p:nvPr>
            <p:ph type="body" sz="quarter" idx="14" hasCustomPrompt="1"/>
          </p:nvPr>
        </p:nvSpPr>
        <p:spPr>
          <a:xfrm>
            <a:off x="76835" y="511552"/>
            <a:ext cx="425450" cy="276999"/>
          </a:xfrm>
        </p:spPr>
        <p:txBody>
          <a:bodyPr lIns="0" tIns="0" rIns="0" bIns="0" anchor="ctr">
            <a:spAutoFit/>
          </a:bodyPr>
          <a:lstStyle>
            <a:lvl1pPr marL="0" indent="0" algn="ctr" defTabSz="457200" rtl="0" eaLnBrk="1" latinLnBrk="0" hangingPunct="1">
              <a:buNone/>
              <a:defRPr lang="ko-KR" altLang="en-US" sz="2000" kern="1200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defRPr>
            </a:lvl1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8395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53">
          <p15:clr>
            <a:srgbClr val="FBAE40"/>
          </p15:clr>
        </p15:guide>
        <p15:guide id="6" pos="5887" userDrawn="1">
          <p15:clr>
            <a:srgbClr val="FBAE40"/>
          </p15:clr>
        </p15:guide>
        <p15:guide id="7" orient="horz" pos="2319" userDrawn="1">
          <p15:clr>
            <a:srgbClr val="FBAE40"/>
          </p15:clr>
        </p15:guide>
        <p15:guide id="8" orient="horz" pos="550" userDrawn="1">
          <p15:clr>
            <a:srgbClr val="FBAE40"/>
          </p15:clr>
        </p15:guide>
        <p15:guide id="9" pos="217" userDrawn="1">
          <p15:clr>
            <a:srgbClr val="FBAE40"/>
          </p15:clr>
        </p15:guide>
        <p15:guide id="10" pos="6023" userDrawn="1">
          <p15:clr>
            <a:srgbClr val="FBAE40"/>
          </p15:clr>
        </p15:guide>
        <p15:guide id="12" orient="horz" pos="98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58519" y="6527294"/>
            <a:ext cx="1147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2FF31CB8-EE0B-4A6A-8561-904A0AB35B7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텍스트 개체 틀 45"/>
          <p:cNvSpPr>
            <a:spLocks noGrp="1"/>
          </p:cNvSpPr>
          <p:nvPr>
            <p:ph type="body" sz="quarter" idx="12"/>
          </p:nvPr>
        </p:nvSpPr>
        <p:spPr>
          <a:xfrm>
            <a:off x="7272472" y="94685"/>
            <a:ext cx="2486818" cy="215444"/>
          </a:xfrm>
        </p:spPr>
        <p:txBody>
          <a:bodyPr wrap="square" lIns="0" tIns="0" rIns="0" bIns="0" anchor="ctr">
            <a:spAutoFit/>
          </a:bodyPr>
          <a:lstStyle>
            <a:lvl1pPr marL="0" indent="0" algn="r" defTabSz="495285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ko-KR" altLang="en-US" sz="1400" kern="1200" spc="-4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>
              <a:buNone/>
              <a:defRPr sz="1300">
                <a:latin typeface="+mn-ea"/>
                <a:ea typeface="+mn-ea"/>
              </a:defRPr>
            </a:lvl2pPr>
            <a:lvl3pPr marL="990570" indent="0">
              <a:buNone/>
              <a:defRPr sz="1300">
                <a:latin typeface="+mn-ea"/>
                <a:ea typeface="+mn-ea"/>
              </a:defRPr>
            </a:lvl3pPr>
            <a:lvl4pPr marL="1485854" indent="0">
              <a:buNone/>
              <a:defRPr sz="1300">
                <a:latin typeface="+mn-ea"/>
                <a:ea typeface="+mn-ea"/>
              </a:defRPr>
            </a:lvl4pPr>
            <a:lvl5pPr marL="1981139" indent="0">
              <a:buNone/>
              <a:defRPr sz="130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</a:t>
            </a:r>
          </a:p>
        </p:txBody>
      </p:sp>
      <p:sp>
        <p:nvSpPr>
          <p:cNvPr id="9" name="직사각형 8"/>
          <p:cNvSpPr/>
          <p:nvPr userDrawn="1"/>
        </p:nvSpPr>
        <p:spPr>
          <a:xfrm>
            <a:off x="857250" y="391884"/>
            <a:ext cx="9288236" cy="4782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0" name="제목 46"/>
          <p:cNvSpPr>
            <a:spLocks noGrp="1"/>
          </p:cNvSpPr>
          <p:nvPr>
            <p:ph type="title"/>
          </p:nvPr>
        </p:nvSpPr>
        <p:spPr>
          <a:xfrm>
            <a:off x="993138" y="481469"/>
            <a:ext cx="2946319" cy="332399"/>
          </a:xfrm>
        </p:spPr>
        <p:txBody>
          <a:bodyPr wrap="none" lIns="0" tIns="0" rIns="0" bIns="0" anchor="b" anchorCtr="0">
            <a:spAutoFit/>
          </a:bodyPr>
          <a:lstStyle>
            <a:lvl1pPr marL="0" algn="l" defTabSz="457200" rtl="0" eaLnBrk="1" latinLnBrk="0" hangingPunct="1">
              <a:defRPr lang="ko-KR" altLang="en-US" sz="2400" kern="12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4" name="직사각형 13"/>
          <p:cNvSpPr/>
          <p:nvPr userDrawn="1"/>
        </p:nvSpPr>
        <p:spPr>
          <a:xfrm>
            <a:off x="0" y="391885"/>
            <a:ext cx="579120" cy="478236"/>
          </a:xfrm>
          <a:prstGeom prst="rect">
            <a:avLst/>
          </a:prstGeom>
          <a:solidFill>
            <a:srgbClr val="2156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5" name="텍스트 개체 틀 15"/>
          <p:cNvSpPr>
            <a:spLocks noGrp="1"/>
          </p:cNvSpPr>
          <p:nvPr>
            <p:ph type="body" sz="quarter" idx="14" hasCustomPrompt="1"/>
          </p:nvPr>
        </p:nvSpPr>
        <p:spPr>
          <a:xfrm>
            <a:off x="76835" y="511552"/>
            <a:ext cx="425450" cy="276999"/>
          </a:xfrm>
        </p:spPr>
        <p:txBody>
          <a:bodyPr lIns="0" tIns="0" rIns="0" bIns="0" anchor="ctr">
            <a:spAutoFit/>
          </a:bodyPr>
          <a:lstStyle>
            <a:lvl1pPr marL="0" indent="0" algn="ctr" defTabSz="457200" rtl="0" eaLnBrk="1" latinLnBrk="0" hangingPunct="1">
              <a:buNone/>
              <a:defRPr lang="ko-KR" altLang="en-US" sz="2000" kern="1200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defRPr>
            </a:lvl1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21" name="직사각형 20"/>
          <p:cNvSpPr/>
          <p:nvPr userDrawn="1"/>
        </p:nvSpPr>
        <p:spPr>
          <a:xfrm>
            <a:off x="664845" y="391885"/>
            <a:ext cx="106680" cy="478236"/>
          </a:xfrm>
          <a:prstGeom prst="rect">
            <a:avLst/>
          </a:prstGeom>
          <a:solidFill>
            <a:srgbClr val="21569E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8852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 userDrawn="1">
          <p15:clr>
            <a:srgbClr val="FBAE40"/>
          </p15:clr>
        </p15:guide>
        <p15:guide id="3" orient="horz" pos="231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EB4E-48DE-4A85-8A59-E126F19DF829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0C6E-C224-44A3-954A-B88988C1B7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601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1" y="6356352"/>
            <a:ext cx="4126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2FF31CB8-EE0B-4A6A-8561-904A0AB35B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289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90" r:id="rId2"/>
    <p:sldLayoutId id="2147483691" r:id="rId3"/>
    <p:sldLayoutId id="2147483689" r:id="rId4"/>
    <p:sldLayoutId id="2147483696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rcRect l="3580" b="26390"/>
          <a:stretch>
            <a:fillRect/>
          </a:stretch>
        </p:blipFill>
        <p:spPr>
          <a:xfrm>
            <a:off x="-1" y="5404017"/>
            <a:ext cx="5654675" cy="145398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/>
          <a:srcRect t="1460"/>
          <a:stretch>
            <a:fillRect/>
          </a:stretch>
        </p:blipFill>
        <p:spPr>
          <a:xfrm>
            <a:off x="4363197" y="0"/>
            <a:ext cx="5542803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600FAF-C3FC-4C4C-B0AC-A0D38ECD2F13}"/>
              </a:ext>
            </a:extLst>
          </p:cNvPr>
          <p:cNvSpPr txBox="1"/>
          <p:nvPr/>
        </p:nvSpPr>
        <p:spPr>
          <a:xfrm>
            <a:off x="761180" y="1385980"/>
            <a:ext cx="5791126" cy="763286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ko-KR" altLang="en-US" sz="4400" spc="-162" dirty="0" err="1"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</a:rPr>
              <a:t>크레텍</a:t>
            </a:r>
            <a:r>
              <a:rPr lang="ko-KR" altLang="en-US" sz="4400" spc="-162" dirty="0"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</a:rPr>
              <a:t> </a:t>
            </a:r>
            <a:r>
              <a:rPr lang="en-US" altLang="ko-KR" sz="4400" spc="-162" dirty="0"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</a:rPr>
              <a:t>DDD </a:t>
            </a:r>
            <a:r>
              <a:rPr lang="ko-KR" altLang="en-US" sz="4400" spc="-162" dirty="0"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</a:rPr>
              <a:t>분석 및 설계</a:t>
            </a:r>
            <a:endParaRPr lang="en-US" altLang="ko-KR" sz="4400" spc="-162" dirty="0">
              <a:latin typeface="KoPub돋움체 Bold" panose="02020603020101020101" pitchFamily="18" charset="-127"/>
              <a:ea typeface="KoPub돋움체 Bold" panose="02020603020101020101" pitchFamily="18" charset="-127"/>
              <a:cs typeface="Arial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591D716-ABCD-4A51-A3AC-1B9500AFD1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1003" y="3896204"/>
            <a:ext cx="2609850" cy="5810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DCC972-B3B5-457A-932C-5739183C9FF4}"/>
              </a:ext>
            </a:extLst>
          </p:cNvPr>
          <p:cNvSpPr txBox="1"/>
          <p:nvPr/>
        </p:nvSpPr>
        <p:spPr>
          <a:xfrm>
            <a:off x="3172282" y="5323260"/>
            <a:ext cx="790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>
                <a:latin typeface="KoPub돋움체 Medium"/>
                <a:ea typeface="KoPub돋움체 Medium"/>
              </a:rPr>
              <a:t>이영곤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C870D7DE-F6BC-4670-81AD-7C750238B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590" y="3347952"/>
            <a:ext cx="5282915" cy="3206750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2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4154984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비즈니스 도메인 분석 </a:t>
            </a:r>
            <a:r>
              <a:rPr lang="en-US" altLang="ko-KR">
                <a:latin typeface="+mj-ea"/>
              </a:rPr>
              <a:t>(DDD </a:t>
            </a:r>
            <a:r>
              <a:rPr lang="ko-KR" altLang="en-US">
                <a:latin typeface="+mj-ea"/>
              </a:rPr>
              <a:t>관점</a:t>
            </a:r>
            <a:r>
              <a:rPr lang="en-US" altLang="ko-KR">
                <a:latin typeface="+mj-ea"/>
              </a:rPr>
              <a:t>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20B3DC-FBB0-4BA1-A49B-93D6516E3F09}"/>
              </a:ext>
            </a:extLst>
          </p:cNvPr>
          <p:cNvSpPr/>
          <p:nvPr/>
        </p:nvSpPr>
        <p:spPr>
          <a:xfrm>
            <a:off x="289560" y="4084268"/>
            <a:ext cx="3008338" cy="132343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4"/>
              </a:buBlip>
            </a:pPr>
            <a:r>
              <a:rPr lang="en-US" altLang="ko-KR" sz="2000">
                <a:latin typeface="+mn-ea"/>
              </a:rPr>
              <a:t>Bounded Context</a:t>
            </a:r>
          </a:p>
          <a:p>
            <a:pPr marL="342900" indent="-342900">
              <a:spcAft>
                <a:spcPts val="1200"/>
              </a:spcAft>
              <a:buSzPct val="120000"/>
              <a:buBlip>
                <a:blip r:embed="rId4"/>
              </a:buBlip>
            </a:pPr>
            <a:r>
              <a:rPr lang="en-US" altLang="ko-KR" sz="2000">
                <a:latin typeface="+mn-ea"/>
              </a:rPr>
              <a:t>Aggregate </a:t>
            </a:r>
            <a:r>
              <a:rPr lang="ko-KR" altLang="en-US" sz="2000">
                <a:latin typeface="+mn-ea"/>
              </a:rPr>
              <a:t>단위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4"/>
              </a:buBlip>
            </a:pPr>
            <a:r>
              <a:rPr lang="ko-KR" altLang="en-US" sz="2000">
                <a:latin typeface="+mn-ea"/>
              </a:rPr>
              <a:t>서브 도메인</a:t>
            </a:r>
            <a:endParaRPr lang="en-US" altLang="ko-KR" sz="2000" dirty="0"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AE94999-FE74-4436-B446-917E4BD9878C}"/>
              </a:ext>
            </a:extLst>
          </p:cNvPr>
          <p:cNvSpPr/>
          <p:nvPr/>
        </p:nvSpPr>
        <p:spPr>
          <a:xfrm>
            <a:off x="3928696" y="1552104"/>
            <a:ext cx="2048608" cy="203132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배포 독립성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트랜잭션 경계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데이터 소유권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호출 빈도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성능 특성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운영 복잡도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팀 구조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B68FAF-666F-4A87-870B-A8A756D2B49A}"/>
              </a:ext>
            </a:extLst>
          </p:cNvPr>
          <p:cNvSpPr/>
          <p:nvPr/>
        </p:nvSpPr>
        <p:spPr>
          <a:xfrm>
            <a:off x="7956166" y="5567390"/>
            <a:ext cx="2048608" cy="400110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buSzPct val="120000"/>
            </a:pPr>
            <a:r>
              <a:rPr lang="ko-KR" altLang="en-US" sz="2000">
                <a:latin typeface="+mn-ea"/>
              </a:rPr>
              <a:t>마이크로서비스</a:t>
            </a:r>
            <a:endParaRPr lang="en-US" altLang="ko-KR" sz="2000" dirty="0"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6905371-DD98-4442-B2F8-65AD2FA7C5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1654" y="3880898"/>
            <a:ext cx="1526809" cy="1526809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E183181A-2996-4F74-AD5B-C01D8F647FCF}"/>
              </a:ext>
            </a:extLst>
          </p:cNvPr>
          <p:cNvSpPr/>
          <p:nvPr/>
        </p:nvSpPr>
        <p:spPr>
          <a:xfrm>
            <a:off x="4478215" y="6049108"/>
            <a:ext cx="1086339" cy="4781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AA45256-A8FB-43B6-91E7-392374874FF5}"/>
              </a:ext>
            </a:extLst>
          </p:cNvPr>
          <p:cNvSpPr/>
          <p:nvPr/>
        </p:nvSpPr>
        <p:spPr>
          <a:xfrm>
            <a:off x="1423865" y="6377365"/>
            <a:ext cx="70582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/>
              <a:t>*Aggregate = “</a:t>
            </a:r>
            <a:r>
              <a:rPr lang="ko-KR" altLang="en-US"/>
              <a:t>데이터 </a:t>
            </a:r>
            <a:r>
              <a:rPr lang="en-US" altLang="ko-KR"/>
              <a:t>+ </a:t>
            </a:r>
            <a:r>
              <a:rPr lang="ko-KR" altLang="en-US"/>
              <a:t>규칙 </a:t>
            </a:r>
            <a:r>
              <a:rPr lang="en-US" altLang="ko-KR"/>
              <a:t>+ </a:t>
            </a:r>
            <a:r>
              <a:rPr lang="ko-KR" altLang="en-US"/>
              <a:t>트랜잭션 경계”를 하나로 묶은 단위</a:t>
            </a:r>
          </a:p>
        </p:txBody>
      </p:sp>
    </p:spTree>
    <p:extLst>
      <p:ext uri="{BB962C8B-B14F-4D97-AF65-F5344CB8AC3E}">
        <p14:creationId xmlns:p14="http://schemas.microsoft.com/office/powerpoint/2010/main" val="1890009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3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1909177" cy="333233"/>
          </a:xfrm>
        </p:spPr>
        <p:txBody>
          <a:bodyPr/>
          <a:lstStyle/>
          <a:p>
            <a:r>
              <a:rPr lang="en-US" altLang="ko-KR">
                <a:latin typeface="+mj-ea"/>
              </a:rPr>
              <a:t>DDD </a:t>
            </a:r>
            <a:r>
              <a:rPr lang="ko-KR" altLang="en-US">
                <a:latin typeface="+mj-ea"/>
              </a:rPr>
              <a:t>분석 질문</a:t>
            </a:r>
            <a:endParaRPr lang="ko-KR" altLang="en-US" dirty="0"/>
          </a:p>
        </p:txBody>
      </p:sp>
      <p:sp>
        <p:nvSpPr>
          <p:cNvPr id="26" name="텍스트 개체 틀 25"/>
          <p:cNvSpPr>
            <a:spLocks noGrp="1"/>
          </p:cNvSpPr>
          <p:nvPr>
            <p:ph type="body" sz="quarter" idx="13"/>
          </p:nvPr>
        </p:nvSpPr>
        <p:spPr>
          <a:xfrm>
            <a:off x="462864" y="1324185"/>
            <a:ext cx="8980272" cy="333233"/>
          </a:xfrm>
        </p:spPr>
        <p:txBody>
          <a:bodyPr/>
          <a:lstStyle/>
          <a:p>
            <a:r>
              <a:rPr lang="ko-KR" altLang="en-US" sz="2400" b="0" dirty="0">
                <a:latin typeface="+mj-ea"/>
                <a:ea typeface="+mj-ea"/>
              </a:rPr>
              <a:t>서브도메인 식별을 위한 질문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443B6DF6-ACE9-485F-BFF3-4455575E2AD0}"/>
              </a:ext>
            </a:extLst>
          </p:cNvPr>
          <p:cNvSpPr/>
          <p:nvPr/>
        </p:nvSpPr>
        <p:spPr>
          <a:xfrm>
            <a:off x="1259477" y="1963341"/>
            <a:ext cx="8276694" cy="224676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회사의 핵심 수익은 어디서 발생하는가</a:t>
            </a:r>
            <a:r>
              <a:rPr lang="en-US" altLang="ko-KR" sz="2000">
                <a:latin typeface="+mn-ea"/>
              </a:rPr>
              <a:t>?</a:t>
            </a: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경쟁력이 생기는 업무는 무엇인가</a:t>
            </a:r>
            <a:r>
              <a:rPr lang="en-US" altLang="ko-KR" sz="2000">
                <a:latin typeface="+mn-ea"/>
              </a:rPr>
              <a:t>?</a:t>
            </a: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반드시 잘해야 하는 핵심 프로세스는 무엇인가</a:t>
            </a:r>
            <a:r>
              <a:rPr lang="en-US" altLang="ko-KR" sz="2000">
                <a:latin typeface="+mn-ea"/>
              </a:rPr>
              <a:t>?</a:t>
            </a: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지원적이지만 필수인 운영 기능은 무엇인가</a:t>
            </a:r>
            <a:r>
              <a:rPr lang="en-US" altLang="ko-KR" sz="2000">
                <a:latin typeface="+mn-ea"/>
              </a:rPr>
              <a:t>?</a:t>
            </a: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여러 업무가 공통으로 쓰는 기준정보는 무엇인가</a:t>
            </a:r>
            <a:r>
              <a:rPr lang="en-US" altLang="ko-KR" sz="2000">
                <a:latin typeface="+mn-ea"/>
              </a:rPr>
              <a:t>?</a:t>
            </a:r>
            <a:endParaRPr lang="en-US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97524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4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4154984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비즈니스 도메인 분석 </a:t>
            </a:r>
            <a:r>
              <a:rPr lang="en-US" altLang="ko-KR">
                <a:latin typeface="+mj-ea"/>
              </a:rPr>
              <a:t>(DDD </a:t>
            </a:r>
            <a:r>
              <a:rPr lang="ko-KR" altLang="en-US">
                <a:latin typeface="+mj-ea"/>
              </a:rPr>
              <a:t>관점</a:t>
            </a:r>
            <a:r>
              <a:rPr lang="en-US" altLang="ko-KR">
                <a:latin typeface="+mj-ea"/>
              </a:rPr>
              <a:t>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579726" y="1238611"/>
            <a:ext cx="8980272" cy="3332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dirty="0"/>
              <a:t>서브 도메인 분류 기준</a:t>
            </a:r>
            <a:endParaRPr lang="ko-KR" altLang="en-US" sz="2400" b="0" dirty="0"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20B3DC-FBB0-4BA1-A49B-93D6516E3F09}"/>
              </a:ext>
            </a:extLst>
          </p:cNvPr>
          <p:cNvSpPr/>
          <p:nvPr/>
        </p:nvSpPr>
        <p:spPr>
          <a:xfrm>
            <a:off x="1438076" y="1996587"/>
            <a:ext cx="7952453" cy="317009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Core Domain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회사의 경쟁력 핵심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타회사와 차별화 근거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Supporting Domain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핵심은 아니지만 운영에 꼭 필요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Generic Domain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대부분 회사가 비슷하게 하는 공통 영역</a:t>
            </a:r>
            <a:endParaRPr lang="en-US" altLang="ko-KR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31669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5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4154984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비즈니스 도메인 분석 </a:t>
            </a:r>
            <a:r>
              <a:rPr lang="en-US" altLang="ko-KR">
                <a:latin typeface="+mj-ea"/>
              </a:rPr>
              <a:t>(DDD </a:t>
            </a:r>
            <a:r>
              <a:rPr lang="ko-KR" altLang="en-US">
                <a:latin typeface="+mj-ea"/>
              </a:rPr>
              <a:t>관점</a:t>
            </a:r>
            <a:r>
              <a:rPr lang="en-US" altLang="ko-KR">
                <a:latin typeface="+mj-ea"/>
              </a:rPr>
              <a:t>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579726" y="1238611"/>
            <a:ext cx="8980272" cy="3332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/>
              <a:t>상품 카탈로그 도메인</a:t>
            </a:r>
            <a:endParaRPr lang="ko-KR" altLang="en-US" sz="2400" b="0" dirty="0"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20B3DC-FBB0-4BA1-A49B-93D6516E3F09}"/>
              </a:ext>
            </a:extLst>
          </p:cNvPr>
          <p:cNvSpPr/>
          <p:nvPr/>
        </p:nvSpPr>
        <p:spPr>
          <a:xfrm>
            <a:off x="1171895" y="1797784"/>
            <a:ext cx="7952453" cy="4093428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 dirty="0">
                <a:latin typeface="+mn-ea"/>
              </a:rPr>
              <a:t>품목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분류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브랜드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바코드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규격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원산지 등</a:t>
            </a:r>
            <a:endParaRPr lang="en-US" altLang="ko-KR" sz="2000" dirty="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 dirty="0">
                <a:latin typeface="+mn-ea"/>
              </a:rPr>
              <a:t>역할</a:t>
            </a:r>
            <a:endParaRPr lang="en-US" altLang="ko-KR" sz="2000" dirty="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판매대상 규정</a:t>
            </a:r>
            <a:endParaRPr lang="en-US" altLang="ko-KR" sz="2000" dirty="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어떤 분류</a:t>
            </a:r>
            <a:r>
              <a:rPr lang="en-US" altLang="ko-KR" sz="2000" dirty="0">
                <a:latin typeface="+mn-ea"/>
              </a:rPr>
              <a:t>/</a:t>
            </a:r>
            <a:r>
              <a:rPr lang="ko-KR" altLang="en-US" sz="2000" dirty="0">
                <a:latin typeface="+mn-ea"/>
              </a:rPr>
              <a:t>브랜드</a:t>
            </a:r>
            <a:r>
              <a:rPr lang="en-US" altLang="ko-KR" sz="2000" dirty="0">
                <a:latin typeface="+mn-ea"/>
              </a:rPr>
              <a:t>/</a:t>
            </a:r>
            <a:r>
              <a:rPr lang="ko-KR" altLang="en-US" sz="2000" dirty="0">
                <a:latin typeface="+mn-ea"/>
              </a:rPr>
              <a:t>속성을 가지는가</a:t>
            </a:r>
            <a:endParaRPr lang="en-US" altLang="ko-KR" sz="2000" dirty="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품목의 기준정보 관리</a:t>
            </a:r>
            <a:endParaRPr lang="en-US" altLang="ko-KR" sz="2000" dirty="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 dirty="0">
                <a:latin typeface="+mn-ea"/>
              </a:rPr>
              <a:t>성격</a:t>
            </a:r>
            <a:endParaRPr lang="en-US" altLang="ko-KR" sz="2000" dirty="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FF0000"/>
                </a:solidFill>
                <a:latin typeface="+mn-ea"/>
              </a:rPr>
              <a:t>중요한 </a:t>
            </a:r>
            <a:r>
              <a:rPr lang="en-US" altLang="ko-KR" sz="2000" dirty="0">
                <a:solidFill>
                  <a:srgbClr val="FF0000"/>
                </a:solidFill>
                <a:latin typeface="+mn-ea"/>
              </a:rPr>
              <a:t>Supporting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경우에 따라 핵심에 가까울 수 있음</a:t>
            </a:r>
            <a:endParaRPr lang="en-US" altLang="ko-KR" sz="2000" dirty="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유통업은 상품 구조와 분류 품질이 실적에 큰 영향</a:t>
            </a:r>
            <a:endParaRPr lang="en-US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54875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6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4154984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비즈니스 도메인 분석 </a:t>
            </a:r>
            <a:r>
              <a:rPr lang="en-US" altLang="ko-KR">
                <a:latin typeface="+mj-ea"/>
              </a:rPr>
              <a:t>(DDD </a:t>
            </a:r>
            <a:r>
              <a:rPr lang="ko-KR" altLang="en-US">
                <a:latin typeface="+mj-ea"/>
              </a:rPr>
              <a:t>관점</a:t>
            </a:r>
            <a:r>
              <a:rPr lang="en-US" altLang="ko-KR">
                <a:latin typeface="+mj-ea"/>
              </a:rPr>
              <a:t>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579726" y="1238611"/>
            <a:ext cx="8980272" cy="3332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/>
              <a:t>가격</a:t>
            </a:r>
            <a:r>
              <a:rPr lang="en-US" altLang="ko-KR" sz="2400"/>
              <a:t>/</a:t>
            </a:r>
            <a:r>
              <a:rPr lang="ko-KR" altLang="en-US" sz="2400"/>
              <a:t>조건 도메인</a:t>
            </a:r>
            <a:endParaRPr lang="ko-KR" altLang="en-US" sz="2400" b="0" dirty="0"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20B3DC-FBB0-4BA1-A49B-93D6516E3F09}"/>
              </a:ext>
            </a:extLst>
          </p:cNvPr>
          <p:cNvSpPr/>
          <p:nvPr/>
        </p:nvSpPr>
        <p:spPr>
          <a:xfrm>
            <a:off x="1171895" y="1797784"/>
            <a:ext cx="7952453" cy="3631763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판매가</a:t>
            </a:r>
            <a:r>
              <a:rPr lang="en-US" altLang="ko-KR" sz="2000">
                <a:latin typeface="+mn-ea"/>
              </a:rPr>
              <a:t>, </a:t>
            </a:r>
            <a:r>
              <a:rPr lang="ko-KR" altLang="en-US" sz="2000">
                <a:latin typeface="+mn-ea"/>
              </a:rPr>
              <a:t>예외가</a:t>
            </a:r>
            <a:r>
              <a:rPr lang="en-US" altLang="ko-KR" sz="2000">
                <a:latin typeface="+mn-ea"/>
              </a:rPr>
              <a:t>, </a:t>
            </a:r>
            <a:r>
              <a:rPr lang="ko-KR" altLang="en-US" sz="2000">
                <a:latin typeface="+mn-ea"/>
              </a:rPr>
              <a:t>브랜드별 기준할인율</a:t>
            </a:r>
            <a:r>
              <a:rPr lang="en-US" altLang="ko-KR" sz="2000">
                <a:latin typeface="+mn-ea"/>
              </a:rPr>
              <a:t>, </a:t>
            </a:r>
            <a:r>
              <a:rPr lang="ko-KR" altLang="en-US" sz="2000">
                <a:latin typeface="+mn-ea"/>
              </a:rPr>
              <a:t>거래처별 조건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역할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얼마에 팔 것인가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누구에게 어떤 조건으로 팔 것인가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가격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할인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예외 정책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성격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FF0000"/>
                </a:solidFill>
                <a:latin typeface="+mn-ea"/>
              </a:rPr>
              <a:t>Core Domain </a:t>
            </a:r>
            <a:r>
              <a:rPr lang="ko-KR" altLang="en-US" sz="2000">
                <a:latin typeface="+mn-ea"/>
              </a:rPr>
              <a:t>가능성 높음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도매 유통은 가격 정책과 거래 조건이 경쟁력인 경우가 많음</a:t>
            </a:r>
            <a:endParaRPr lang="en-US" altLang="ko-KR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41196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7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4154984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비즈니스 도메인 분석 </a:t>
            </a:r>
            <a:r>
              <a:rPr lang="en-US" altLang="ko-KR">
                <a:latin typeface="+mj-ea"/>
              </a:rPr>
              <a:t>(DDD </a:t>
            </a:r>
            <a:r>
              <a:rPr lang="ko-KR" altLang="en-US">
                <a:latin typeface="+mj-ea"/>
              </a:rPr>
              <a:t>관점</a:t>
            </a:r>
            <a:r>
              <a:rPr lang="en-US" altLang="ko-KR">
                <a:latin typeface="+mj-ea"/>
              </a:rPr>
              <a:t>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579726" y="1238611"/>
            <a:ext cx="8980272" cy="3332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/>
              <a:t>거래처</a:t>
            </a:r>
            <a:r>
              <a:rPr lang="en-US" altLang="ko-KR" sz="2400"/>
              <a:t>/</a:t>
            </a:r>
            <a:r>
              <a:rPr lang="ko-KR" altLang="en-US" sz="2400"/>
              <a:t>고객 도메인</a:t>
            </a:r>
            <a:endParaRPr lang="ko-KR" altLang="en-US" sz="2400" b="0" dirty="0"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20B3DC-FBB0-4BA1-A49B-93D6516E3F09}"/>
              </a:ext>
            </a:extLst>
          </p:cNvPr>
          <p:cNvSpPr/>
          <p:nvPr/>
        </p:nvSpPr>
        <p:spPr>
          <a:xfrm>
            <a:off x="1171895" y="1797784"/>
            <a:ext cx="7952453" cy="3631763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고객</a:t>
            </a:r>
            <a:r>
              <a:rPr lang="en-US" altLang="ko-KR" sz="2000">
                <a:latin typeface="+mn-ea"/>
              </a:rPr>
              <a:t>, </a:t>
            </a:r>
            <a:r>
              <a:rPr lang="ko-KR" altLang="en-US" sz="2000">
                <a:latin typeface="+mn-ea"/>
              </a:rPr>
              <a:t>매입처</a:t>
            </a:r>
            <a:r>
              <a:rPr lang="en-US" altLang="ko-KR" sz="2000">
                <a:latin typeface="+mn-ea"/>
              </a:rPr>
              <a:t>, </a:t>
            </a:r>
            <a:r>
              <a:rPr lang="ko-KR" altLang="en-US" sz="2000">
                <a:latin typeface="+mn-ea"/>
              </a:rPr>
              <a:t>주소</a:t>
            </a:r>
            <a:r>
              <a:rPr lang="en-US" altLang="ko-KR" sz="2000">
                <a:latin typeface="+mn-ea"/>
              </a:rPr>
              <a:t>, </a:t>
            </a:r>
            <a:r>
              <a:rPr lang="ko-KR" altLang="en-US" sz="2000">
                <a:latin typeface="+mn-ea"/>
              </a:rPr>
              <a:t>계좌</a:t>
            </a:r>
            <a:r>
              <a:rPr lang="en-US" altLang="ko-KR" sz="2000">
                <a:latin typeface="+mn-ea"/>
              </a:rPr>
              <a:t>, </a:t>
            </a:r>
            <a:r>
              <a:rPr lang="ko-KR" altLang="en-US" sz="2000">
                <a:latin typeface="+mn-ea"/>
              </a:rPr>
              <a:t>거래유형</a:t>
            </a:r>
            <a:r>
              <a:rPr lang="en-US" altLang="ko-KR" sz="2000">
                <a:latin typeface="+mn-ea"/>
              </a:rPr>
              <a:t>, </a:t>
            </a:r>
            <a:r>
              <a:rPr lang="ko-KR" altLang="en-US" sz="2000">
                <a:latin typeface="+mn-ea"/>
              </a:rPr>
              <a:t>세금계산서 정보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역할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누구와 거래하는가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고객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매입처의 운영 속성은 무엇인가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정산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출고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여신 조건은 무엇인가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성격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FF0000"/>
                </a:solidFill>
                <a:latin typeface="+mn-ea"/>
              </a:rPr>
              <a:t>Supporting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하지만 여신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거래조건과 강하게 붙으면 </a:t>
            </a:r>
            <a:r>
              <a:rPr lang="en-US" altLang="ko-KR" sz="2000">
                <a:latin typeface="+mn-ea"/>
              </a:rPr>
              <a:t>Core </a:t>
            </a:r>
            <a:r>
              <a:rPr lang="ko-KR" altLang="en-US" sz="2000">
                <a:latin typeface="+mn-ea"/>
              </a:rPr>
              <a:t>일부와 겹침</a:t>
            </a:r>
            <a:endParaRPr lang="en-US" altLang="ko-KR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89350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8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4154984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비즈니스 도메인 분석 </a:t>
            </a:r>
            <a:r>
              <a:rPr lang="en-US" altLang="ko-KR">
                <a:latin typeface="+mj-ea"/>
              </a:rPr>
              <a:t>(DDD </a:t>
            </a:r>
            <a:r>
              <a:rPr lang="ko-KR" altLang="en-US">
                <a:latin typeface="+mj-ea"/>
              </a:rPr>
              <a:t>관점</a:t>
            </a:r>
            <a:r>
              <a:rPr lang="en-US" altLang="ko-KR">
                <a:latin typeface="+mj-ea"/>
              </a:rPr>
              <a:t>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579726" y="1238611"/>
            <a:ext cx="8980272" cy="3332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/>
              <a:t>재고</a:t>
            </a:r>
            <a:r>
              <a:rPr lang="en-US" altLang="ko-KR" sz="2400"/>
              <a:t>/</a:t>
            </a:r>
            <a:r>
              <a:rPr lang="ko-KR" altLang="en-US" sz="2400"/>
              <a:t>물류 도메인</a:t>
            </a:r>
            <a:endParaRPr lang="ko-KR" altLang="en-US" sz="2400" b="0" dirty="0"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20B3DC-FBB0-4BA1-A49B-93D6516E3F09}"/>
              </a:ext>
            </a:extLst>
          </p:cNvPr>
          <p:cNvSpPr/>
          <p:nvPr/>
        </p:nvSpPr>
        <p:spPr>
          <a:xfrm>
            <a:off x="1171895" y="1797784"/>
            <a:ext cx="7952453" cy="3477875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센터</a:t>
            </a:r>
            <a:r>
              <a:rPr lang="en-US" altLang="ko-KR" sz="2000">
                <a:latin typeface="+mn-ea"/>
              </a:rPr>
              <a:t>, </a:t>
            </a:r>
            <a:r>
              <a:rPr lang="ko-KR" altLang="en-US" sz="2000">
                <a:latin typeface="+mn-ea"/>
              </a:rPr>
              <a:t>존</a:t>
            </a:r>
            <a:r>
              <a:rPr lang="en-US" altLang="ko-KR" sz="2000">
                <a:latin typeface="+mn-ea"/>
              </a:rPr>
              <a:t>, </a:t>
            </a:r>
            <a:r>
              <a:rPr lang="ko-KR" altLang="en-US" sz="2000">
                <a:latin typeface="+mn-ea"/>
              </a:rPr>
              <a:t>로케이션</a:t>
            </a:r>
            <a:r>
              <a:rPr lang="en-US" altLang="ko-KR" sz="2000">
                <a:latin typeface="+mn-ea"/>
              </a:rPr>
              <a:t>, </a:t>
            </a:r>
            <a:r>
              <a:rPr lang="ko-KR" altLang="en-US" sz="2000">
                <a:latin typeface="+mn-ea"/>
              </a:rPr>
              <a:t>재고</a:t>
            </a:r>
            <a:r>
              <a:rPr lang="en-US" altLang="ko-KR" sz="2000">
                <a:latin typeface="+mn-ea"/>
              </a:rPr>
              <a:t>, </a:t>
            </a:r>
            <a:r>
              <a:rPr lang="ko-KR" altLang="en-US" sz="2000">
                <a:latin typeface="+mn-ea"/>
              </a:rPr>
              <a:t>이동</a:t>
            </a:r>
            <a:r>
              <a:rPr lang="en-US" altLang="ko-KR" sz="2000">
                <a:latin typeface="+mn-ea"/>
              </a:rPr>
              <a:t>, </a:t>
            </a:r>
            <a:r>
              <a:rPr lang="ko-KR" altLang="en-US" sz="2000">
                <a:latin typeface="+mn-ea"/>
              </a:rPr>
              <a:t>적치</a:t>
            </a:r>
            <a:r>
              <a:rPr lang="en-US" altLang="ko-KR" sz="2000">
                <a:latin typeface="+mn-ea"/>
              </a:rPr>
              <a:t>, </a:t>
            </a:r>
            <a:r>
              <a:rPr lang="ko-KR" altLang="en-US" sz="2000">
                <a:latin typeface="+mn-ea"/>
              </a:rPr>
              <a:t>피킹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역할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어디에 어떤 재고가 있는가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어떻게 보관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이동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출고하는가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성격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FF0000"/>
                </a:solidFill>
                <a:latin typeface="+mn-ea"/>
              </a:rPr>
              <a:t>Core Domain</a:t>
            </a:r>
            <a:r>
              <a:rPr lang="en-US" altLang="ko-KR" sz="2000">
                <a:latin typeface="+mn-ea"/>
              </a:rPr>
              <a:t> </a:t>
            </a:r>
            <a:r>
              <a:rPr lang="ko-KR" altLang="en-US" sz="2000">
                <a:latin typeface="+mn-ea"/>
              </a:rPr>
              <a:t>가능성 높음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유통업에서는 재고 정확도</a:t>
            </a:r>
            <a:r>
              <a:rPr lang="en-US" altLang="ko-KR" sz="2000">
                <a:latin typeface="+mn-ea"/>
              </a:rPr>
              <a:t>, </a:t>
            </a:r>
            <a:r>
              <a:rPr lang="ko-KR" altLang="en-US" sz="2000">
                <a:latin typeface="+mn-ea"/>
              </a:rPr>
              <a:t>출고 효율</a:t>
            </a:r>
            <a:r>
              <a:rPr lang="en-US" altLang="ko-KR" sz="2000">
                <a:latin typeface="+mn-ea"/>
              </a:rPr>
              <a:t>, </a:t>
            </a:r>
            <a:r>
              <a:rPr lang="ko-KR" altLang="en-US" sz="2000">
                <a:latin typeface="+mn-ea"/>
              </a:rPr>
              <a:t>로케이션 운영이 핵심 경쟁력일 수 있음</a:t>
            </a:r>
            <a:endParaRPr lang="en-US" altLang="ko-KR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97086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9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4154984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비즈니스 도메인 분석 </a:t>
            </a:r>
            <a:r>
              <a:rPr lang="en-US" altLang="ko-KR">
                <a:latin typeface="+mj-ea"/>
              </a:rPr>
              <a:t>(DDD </a:t>
            </a:r>
            <a:r>
              <a:rPr lang="ko-KR" altLang="en-US">
                <a:latin typeface="+mj-ea"/>
              </a:rPr>
              <a:t>관점</a:t>
            </a:r>
            <a:r>
              <a:rPr lang="en-US" altLang="ko-KR">
                <a:latin typeface="+mj-ea"/>
              </a:rPr>
              <a:t>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579726" y="1238611"/>
            <a:ext cx="8980272" cy="3332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/>
              <a:t>수출</a:t>
            </a:r>
            <a:r>
              <a:rPr lang="en-US" altLang="ko-KR" sz="2400"/>
              <a:t>/</a:t>
            </a:r>
            <a:r>
              <a:rPr lang="ko-KR" altLang="en-US" sz="2400"/>
              <a:t>특수업무 도메인</a:t>
            </a:r>
            <a:endParaRPr lang="ko-KR" altLang="en-US" sz="2400" b="0" dirty="0"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20B3DC-FBB0-4BA1-A49B-93D6516E3F09}"/>
              </a:ext>
            </a:extLst>
          </p:cNvPr>
          <p:cNvSpPr/>
          <p:nvPr/>
        </p:nvSpPr>
        <p:spPr>
          <a:xfrm>
            <a:off x="1171895" y="1797784"/>
            <a:ext cx="7952453" cy="3631763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수출 예정 품목</a:t>
            </a:r>
            <a:r>
              <a:rPr lang="en-US" altLang="ko-KR" sz="2000">
                <a:latin typeface="+mn-ea"/>
              </a:rPr>
              <a:t>, </a:t>
            </a:r>
            <a:r>
              <a:rPr lang="ko-KR" altLang="en-US" sz="2000">
                <a:latin typeface="+mn-ea"/>
              </a:rPr>
              <a:t>검토 이력</a:t>
            </a:r>
            <a:r>
              <a:rPr lang="en-US" altLang="ko-KR" sz="2000">
                <a:latin typeface="+mn-ea"/>
              </a:rPr>
              <a:t>, </a:t>
            </a:r>
            <a:r>
              <a:rPr lang="ko-KR" altLang="en-US" sz="2000">
                <a:latin typeface="+mn-ea"/>
              </a:rPr>
              <a:t>승인 흐름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역할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수출 계획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품목 검토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승인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특수 거래 프로세스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성격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일반적으로 </a:t>
            </a:r>
            <a:r>
              <a:rPr lang="en-US" altLang="ko-KR" sz="2000">
                <a:solidFill>
                  <a:srgbClr val="FF0000"/>
                </a:solidFill>
                <a:latin typeface="+mn-ea"/>
              </a:rPr>
              <a:t>Supporting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크레텍에서 수출이 핵심사업이면 별도 </a:t>
            </a:r>
            <a:r>
              <a:rPr lang="en-US" altLang="ko-KR" sz="2000">
                <a:latin typeface="+mn-ea"/>
              </a:rPr>
              <a:t>Core </a:t>
            </a:r>
            <a:r>
              <a:rPr lang="ko-KR" altLang="en-US" sz="2000">
                <a:latin typeface="+mn-ea"/>
              </a:rPr>
              <a:t>후보</a:t>
            </a:r>
            <a:endParaRPr lang="en-US" altLang="ko-KR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74866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10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4154984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비즈니스 도메인 분석 </a:t>
            </a:r>
            <a:r>
              <a:rPr lang="en-US" altLang="ko-KR">
                <a:latin typeface="+mj-ea"/>
              </a:rPr>
              <a:t>(DDD </a:t>
            </a:r>
            <a:r>
              <a:rPr lang="ko-KR" altLang="en-US">
                <a:latin typeface="+mj-ea"/>
              </a:rPr>
              <a:t>관점</a:t>
            </a:r>
            <a:r>
              <a:rPr lang="en-US" altLang="ko-KR">
                <a:latin typeface="+mj-ea"/>
              </a:rPr>
              <a:t>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579726" y="1238611"/>
            <a:ext cx="8980272" cy="3332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/>
              <a:t>여신</a:t>
            </a:r>
            <a:r>
              <a:rPr lang="en-US" altLang="ko-KR" sz="2400"/>
              <a:t>/</a:t>
            </a:r>
            <a:r>
              <a:rPr lang="ko-KR" altLang="en-US" sz="2400"/>
              <a:t>한도</a:t>
            </a:r>
            <a:r>
              <a:rPr lang="en-US" altLang="ko-KR" sz="2400"/>
              <a:t>/</a:t>
            </a:r>
            <a:r>
              <a:rPr lang="ko-KR" altLang="en-US" sz="2400"/>
              <a:t>통제 도메인</a:t>
            </a:r>
            <a:endParaRPr lang="ko-KR" altLang="en-US" sz="2400" b="0" dirty="0"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20B3DC-FBB0-4BA1-A49B-93D6516E3F09}"/>
              </a:ext>
            </a:extLst>
          </p:cNvPr>
          <p:cNvSpPr/>
          <p:nvPr/>
        </p:nvSpPr>
        <p:spPr>
          <a:xfrm>
            <a:off x="1171895" y="1797784"/>
            <a:ext cx="7952453" cy="3631763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거래처 한도</a:t>
            </a:r>
            <a:r>
              <a:rPr lang="en-US" altLang="ko-KR" sz="2000">
                <a:latin typeface="+mn-ea"/>
              </a:rPr>
              <a:t>, </a:t>
            </a:r>
            <a:r>
              <a:rPr lang="ko-KR" altLang="en-US" sz="2000">
                <a:latin typeface="+mn-ea"/>
              </a:rPr>
              <a:t>계획</a:t>
            </a:r>
            <a:r>
              <a:rPr lang="en-US" altLang="ko-KR" sz="2000">
                <a:latin typeface="+mn-ea"/>
              </a:rPr>
              <a:t>, </a:t>
            </a:r>
            <a:r>
              <a:rPr lang="ko-KR" altLang="en-US" sz="2000">
                <a:latin typeface="+mn-ea"/>
              </a:rPr>
              <a:t>사용</a:t>
            </a:r>
            <a:r>
              <a:rPr lang="en-US" altLang="ko-KR" sz="2000">
                <a:latin typeface="+mn-ea"/>
              </a:rPr>
              <a:t>, </a:t>
            </a:r>
            <a:r>
              <a:rPr lang="ko-KR" altLang="en-US" sz="2000">
                <a:latin typeface="+mn-ea"/>
              </a:rPr>
              <a:t>제한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역할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거래처별 한도 관리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위험 통제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출하 가능 여부 판단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성격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FF0000"/>
                </a:solidFill>
                <a:latin typeface="+mn-ea"/>
              </a:rPr>
              <a:t>Core</a:t>
            </a:r>
            <a:r>
              <a:rPr lang="ko-KR" altLang="en-US" sz="2000">
                <a:solidFill>
                  <a:srgbClr val="FF0000"/>
                </a:solidFill>
                <a:latin typeface="+mn-ea"/>
              </a:rPr>
              <a:t>와 </a:t>
            </a:r>
            <a:r>
              <a:rPr lang="en-US" altLang="ko-KR" sz="2000">
                <a:solidFill>
                  <a:srgbClr val="FF0000"/>
                </a:solidFill>
                <a:latin typeface="+mn-ea"/>
              </a:rPr>
              <a:t>Supporting</a:t>
            </a:r>
            <a:r>
              <a:rPr lang="ko-KR" altLang="en-US" sz="2000">
                <a:solidFill>
                  <a:srgbClr val="FF0000"/>
                </a:solidFill>
                <a:latin typeface="+mn-ea"/>
              </a:rPr>
              <a:t>의 경계</a:t>
            </a:r>
            <a:endParaRPr lang="en-US" altLang="ko-KR" sz="200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B2B </a:t>
            </a:r>
            <a:r>
              <a:rPr lang="ko-KR" altLang="en-US" sz="2000">
                <a:latin typeface="+mn-ea"/>
              </a:rPr>
              <a:t>도매에서는 매우 중요</a:t>
            </a:r>
            <a:endParaRPr lang="en-US" altLang="ko-KR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79984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11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4154984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비즈니스 도메인 분석 </a:t>
            </a:r>
            <a:r>
              <a:rPr lang="en-US" altLang="ko-KR">
                <a:latin typeface="+mj-ea"/>
              </a:rPr>
              <a:t>(DDD </a:t>
            </a:r>
            <a:r>
              <a:rPr lang="ko-KR" altLang="en-US">
                <a:latin typeface="+mj-ea"/>
              </a:rPr>
              <a:t>관점</a:t>
            </a:r>
            <a:r>
              <a:rPr lang="en-US" altLang="ko-KR">
                <a:latin typeface="+mj-ea"/>
              </a:rPr>
              <a:t>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579726" y="1238611"/>
            <a:ext cx="8980272" cy="3332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/>
              <a:t>자동채번</a:t>
            </a:r>
            <a:r>
              <a:rPr lang="en-US" altLang="ko-KR" sz="2400"/>
              <a:t>/</a:t>
            </a:r>
            <a:r>
              <a:rPr lang="ko-KR" altLang="en-US" sz="2400"/>
              <a:t>권한</a:t>
            </a:r>
            <a:r>
              <a:rPr lang="en-US" altLang="ko-KR" sz="2400"/>
              <a:t>/</a:t>
            </a:r>
            <a:r>
              <a:rPr lang="ko-KR" altLang="en-US" sz="2400"/>
              <a:t>사용자</a:t>
            </a:r>
            <a:r>
              <a:rPr lang="en-US" altLang="ko-KR" sz="2400"/>
              <a:t>/</a:t>
            </a:r>
            <a:r>
              <a:rPr lang="ko-KR" altLang="en-US" sz="2400"/>
              <a:t>공통코드 도메인</a:t>
            </a:r>
            <a:endParaRPr lang="ko-KR" altLang="en-US" sz="2400" b="0" dirty="0"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20B3DC-FBB0-4BA1-A49B-93D6516E3F09}"/>
              </a:ext>
            </a:extLst>
          </p:cNvPr>
          <p:cNvSpPr/>
          <p:nvPr/>
        </p:nvSpPr>
        <p:spPr>
          <a:xfrm>
            <a:off x="1171895" y="1797784"/>
            <a:ext cx="7952453" cy="224676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번호발번</a:t>
            </a:r>
            <a:r>
              <a:rPr lang="en-US" altLang="ko-KR" sz="2000">
                <a:latin typeface="+mn-ea"/>
              </a:rPr>
              <a:t>, </a:t>
            </a:r>
            <a:r>
              <a:rPr lang="ko-KR" altLang="en-US" sz="2000">
                <a:latin typeface="+mn-ea"/>
              </a:rPr>
              <a:t>사용자</a:t>
            </a:r>
            <a:r>
              <a:rPr lang="en-US" altLang="ko-KR" sz="2000">
                <a:latin typeface="+mn-ea"/>
              </a:rPr>
              <a:t>, </a:t>
            </a:r>
            <a:r>
              <a:rPr lang="ko-KR" altLang="en-US" sz="2000">
                <a:latin typeface="+mn-ea"/>
              </a:rPr>
              <a:t>권한</a:t>
            </a:r>
            <a:r>
              <a:rPr lang="en-US" altLang="ko-KR" sz="2000">
                <a:latin typeface="+mn-ea"/>
              </a:rPr>
              <a:t>, </a:t>
            </a:r>
            <a:r>
              <a:rPr lang="ko-KR" altLang="en-US" sz="2000">
                <a:latin typeface="+mn-ea"/>
              </a:rPr>
              <a:t>메타</a:t>
            </a:r>
            <a:r>
              <a:rPr lang="en-US" altLang="ko-KR" sz="2000">
                <a:latin typeface="+mn-ea"/>
              </a:rPr>
              <a:t>, </a:t>
            </a:r>
            <a:r>
              <a:rPr lang="ko-KR" altLang="en-US" sz="2000">
                <a:latin typeface="+mn-ea"/>
              </a:rPr>
              <a:t>단위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역할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시스템 운영 기반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성격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Generic Domain</a:t>
            </a:r>
          </a:p>
        </p:txBody>
      </p:sp>
    </p:spTree>
    <p:extLst>
      <p:ext uri="{BB962C8B-B14F-4D97-AF65-F5344CB8AC3E}">
        <p14:creationId xmlns:p14="http://schemas.microsoft.com/office/powerpoint/2010/main" val="1818529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12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2678618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서브 도메인 후보 정리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02</a:t>
            </a:r>
            <a:endParaRPr lang="ko-KR" altLang="en-US" dirty="0"/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841658" y="1400421"/>
            <a:ext cx="2545258" cy="3332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/>
              <a:t>Core Domain </a:t>
            </a:r>
            <a:r>
              <a:rPr lang="ko-KR" altLang="en-US" sz="2400" dirty="0"/>
              <a:t>후보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20B3DC-FBB0-4BA1-A49B-93D6516E3F09}"/>
              </a:ext>
            </a:extLst>
          </p:cNvPr>
          <p:cNvSpPr/>
          <p:nvPr/>
        </p:nvSpPr>
        <p:spPr>
          <a:xfrm>
            <a:off x="1298018" y="1836004"/>
            <a:ext cx="2248970" cy="132343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 dirty="0">
                <a:latin typeface="+mn-ea"/>
              </a:rPr>
              <a:t>가격</a:t>
            </a:r>
            <a:r>
              <a:rPr lang="en-US" altLang="ko-KR" sz="2000" dirty="0">
                <a:latin typeface="+mn-ea"/>
              </a:rPr>
              <a:t>/</a:t>
            </a:r>
            <a:r>
              <a:rPr lang="ko-KR" altLang="en-US" sz="2000" dirty="0">
                <a:latin typeface="+mn-ea"/>
              </a:rPr>
              <a:t>거래조건</a:t>
            </a:r>
            <a:endParaRPr lang="en-US" altLang="ko-KR" sz="2000" dirty="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 dirty="0">
                <a:latin typeface="+mn-ea"/>
              </a:rPr>
              <a:t>재고</a:t>
            </a:r>
            <a:r>
              <a:rPr lang="en-US" altLang="ko-KR" sz="2000" dirty="0">
                <a:latin typeface="+mn-ea"/>
              </a:rPr>
              <a:t>/</a:t>
            </a:r>
            <a:r>
              <a:rPr lang="ko-KR" altLang="en-US" sz="2000" dirty="0">
                <a:latin typeface="+mn-ea"/>
              </a:rPr>
              <a:t>물류운영</a:t>
            </a:r>
            <a:endParaRPr lang="en-US" altLang="ko-KR" sz="2000" dirty="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 dirty="0">
                <a:latin typeface="+mn-ea"/>
              </a:rPr>
              <a:t>여신</a:t>
            </a:r>
            <a:r>
              <a:rPr lang="en-US" altLang="ko-KR" sz="2000" dirty="0">
                <a:latin typeface="+mn-ea"/>
              </a:rPr>
              <a:t>/</a:t>
            </a:r>
            <a:r>
              <a:rPr lang="ko-KR" altLang="en-US" sz="2000" dirty="0">
                <a:latin typeface="+mn-ea"/>
              </a:rPr>
              <a:t>출하통제</a:t>
            </a:r>
            <a:endParaRPr lang="en-US" altLang="ko-KR" sz="2000" dirty="0">
              <a:latin typeface="+mn-ea"/>
            </a:endParaRPr>
          </a:p>
        </p:txBody>
      </p:sp>
      <p:sp>
        <p:nvSpPr>
          <p:cNvPr id="7" name="텍스트 개체 틀 25">
            <a:extLst>
              <a:ext uri="{FF2B5EF4-FFF2-40B4-BE49-F238E27FC236}">
                <a16:creationId xmlns:a16="http://schemas.microsoft.com/office/drawing/2014/main" id="{F719E591-CBB0-45F1-B7C6-24C59D4F292F}"/>
              </a:ext>
            </a:extLst>
          </p:cNvPr>
          <p:cNvSpPr txBox="1">
            <a:spLocks/>
          </p:cNvSpPr>
          <p:nvPr/>
        </p:nvSpPr>
        <p:spPr>
          <a:xfrm>
            <a:off x="4883796" y="1400421"/>
            <a:ext cx="3434293" cy="3332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Supporting Domain </a:t>
            </a:r>
            <a:r>
              <a:rPr lang="ko-KR" altLang="en-US" sz="2400"/>
              <a:t>후보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1F9B570-EF94-4E46-8F0C-F3100478EF38}"/>
              </a:ext>
            </a:extLst>
          </p:cNvPr>
          <p:cNvSpPr/>
          <p:nvPr/>
        </p:nvSpPr>
        <p:spPr>
          <a:xfrm>
            <a:off x="5302124" y="1836004"/>
            <a:ext cx="2897979" cy="1785104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상품 카탈로그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거래처 관리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수출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특수업무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매출계획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실적</a:t>
            </a:r>
            <a:endParaRPr lang="en-US" altLang="ko-KR" sz="2000">
              <a:latin typeface="+mn-ea"/>
            </a:endParaRPr>
          </a:p>
        </p:txBody>
      </p:sp>
      <p:sp>
        <p:nvSpPr>
          <p:cNvPr id="11" name="텍스트 개체 틀 25">
            <a:extLst>
              <a:ext uri="{FF2B5EF4-FFF2-40B4-BE49-F238E27FC236}">
                <a16:creationId xmlns:a16="http://schemas.microsoft.com/office/drawing/2014/main" id="{69386E84-3F6F-4F23-9264-F49E5BA66EBA}"/>
              </a:ext>
            </a:extLst>
          </p:cNvPr>
          <p:cNvSpPr txBox="1">
            <a:spLocks/>
          </p:cNvSpPr>
          <p:nvPr/>
        </p:nvSpPr>
        <p:spPr>
          <a:xfrm>
            <a:off x="841658" y="3848346"/>
            <a:ext cx="3434293" cy="3332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Generic Domain </a:t>
            </a:r>
            <a:r>
              <a:rPr lang="ko-KR" altLang="en-US" sz="2400"/>
              <a:t>후보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4B7D63B-53E2-42BB-8AD1-5A265161F1BC}"/>
              </a:ext>
            </a:extLst>
          </p:cNvPr>
          <p:cNvSpPr/>
          <p:nvPr/>
        </p:nvSpPr>
        <p:spPr>
          <a:xfrm>
            <a:off x="1291484" y="4339542"/>
            <a:ext cx="2861779" cy="1785104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사용자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권한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공통코드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자동채번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메타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단위</a:t>
            </a:r>
            <a:endParaRPr lang="en-US" altLang="ko-KR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18147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13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2678618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서브 도메인 후보 정리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02</a:t>
            </a:r>
            <a:endParaRPr lang="ko-KR" altLang="en-US" dirty="0"/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1398628" y="1459220"/>
            <a:ext cx="2545258" cy="3332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Core Domain </a:t>
            </a:r>
            <a:r>
              <a:rPr lang="ko-KR" altLang="en-US" sz="2400"/>
              <a:t>후보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20B3DC-FBB0-4BA1-A49B-93D6516E3F09}"/>
              </a:ext>
            </a:extLst>
          </p:cNvPr>
          <p:cNvSpPr/>
          <p:nvPr/>
        </p:nvSpPr>
        <p:spPr>
          <a:xfrm>
            <a:off x="1854988" y="1972568"/>
            <a:ext cx="2248970" cy="132343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가격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거래조건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재고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물류운영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여신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출하통제</a:t>
            </a:r>
            <a:endParaRPr lang="en-US" altLang="ko-KR" sz="2000">
              <a:latin typeface="+mn-ea"/>
            </a:endParaRPr>
          </a:p>
        </p:txBody>
      </p:sp>
      <p:sp>
        <p:nvSpPr>
          <p:cNvPr id="7" name="텍스트 개체 틀 25">
            <a:extLst>
              <a:ext uri="{FF2B5EF4-FFF2-40B4-BE49-F238E27FC236}">
                <a16:creationId xmlns:a16="http://schemas.microsoft.com/office/drawing/2014/main" id="{F719E591-CBB0-45F1-B7C6-24C59D4F292F}"/>
              </a:ext>
            </a:extLst>
          </p:cNvPr>
          <p:cNvSpPr txBox="1">
            <a:spLocks/>
          </p:cNvSpPr>
          <p:nvPr/>
        </p:nvSpPr>
        <p:spPr>
          <a:xfrm>
            <a:off x="5440766" y="1400421"/>
            <a:ext cx="3434293" cy="3332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Supporting Domain </a:t>
            </a:r>
            <a:r>
              <a:rPr lang="ko-KR" altLang="en-US" sz="2400"/>
              <a:t>후보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1F9B570-EF94-4E46-8F0C-F3100478EF38}"/>
              </a:ext>
            </a:extLst>
          </p:cNvPr>
          <p:cNvSpPr/>
          <p:nvPr/>
        </p:nvSpPr>
        <p:spPr>
          <a:xfrm>
            <a:off x="5859094" y="1836004"/>
            <a:ext cx="2897979" cy="1785104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상품 카탈로그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거래처 관리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수출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특수업무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매출계획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실적</a:t>
            </a:r>
            <a:endParaRPr lang="en-US" altLang="ko-KR" sz="2000">
              <a:latin typeface="+mn-ea"/>
            </a:endParaRPr>
          </a:p>
        </p:txBody>
      </p:sp>
      <p:sp>
        <p:nvSpPr>
          <p:cNvPr id="11" name="텍스트 개체 틀 25">
            <a:extLst>
              <a:ext uri="{FF2B5EF4-FFF2-40B4-BE49-F238E27FC236}">
                <a16:creationId xmlns:a16="http://schemas.microsoft.com/office/drawing/2014/main" id="{69386E84-3F6F-4F23-9264-F49E5BA66EBA}"/>
              </a:ext>
            </a:extLst>
          </p:cNvPr>
          <p:cNvSpPr txBox="1">
            <a:spLocks/>
          </p:cNvSpPr>
          <p:nvPr/>
        </p:nvSpPr>
        <p:spPr>
          <a:xfrm>
            <a:off x="1398628" y="4014510"/>
            <a:ext cx="3434293" cy="3332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/>
              <a:t>Generic Domain </a:t>
            </a:r>
            <a:r>
              <a:rPr lang="ko-KR" altLang="en-US" sz="2400" dirty="0"/>
              <a:t>후보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4B7D63B-53E2-42BB-8AD1-5A265161F1BC}"/>
              </a:ext>
            </a:extLst>
          </p:cNvPr>
          <p:cNvSpPr/>
          <p:nvPr/>
        </p:nvSpPr>
        <p:spPr>
          <a:xfrm>
            <a:off x="1854988" y="4592261"/>
            <a:ext cx="2861779" cy="1785104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사용자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권한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공통코드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자동채번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메타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단위</a:t>
            </a:r>
            <a:endParaRPr lang="en-US" altLang="ko-KR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90685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14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2231380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바운디드 컨택스트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03</a:t>
            </a:r>
            <a:endParaRPr lang="ko-KR" altLang="en-US" dirty="0"/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679260" y="1282239"/>
            <a:ext cx="2545258" cy="3332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/>
              <a:t>카탈로그 컨택스트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20B3DC-FBB0-4BA1-A49B-93D6516E3F09}"/>
              </a:ext>
            </a:extLst>
          </p:cNvPr>
          <p:cNvSpPr/>
          <p:nvPr/>
        </p:nvSpPr>
        <p:spPr>
          <a:xfrm>
            <a:off x="993138" y="1736594"/>
            <a:ext cx="4640746" cy="2862322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 dirty="0">
                <a:latin typeface="+mn-ea"/>
              </a:rPr>
              <a:t>책임</a:t>
            </a:r>
            <a:r>
              <a:rPr lang="en-US" altLang="ko-KR" sz="2000" dirty="0">
                <a:latin typeface="+mn-ea"/>
              </a:rPr>
              <a:t>: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새로운 상품을 등록한다</a:t>
            </a:r>
            <a:endParaRPr lang="en-US" altLang="ko-KR" sz="2000" dirty="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상품의 이름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브랜드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분류를 관리한다</a:t>
            </a:r>
            <a:endParaRPr lang="en-US" altLang="ko-KR" sz="2000" dirty="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상품이 판매 가능한 상태인지 결정한다</a:t>
            </a:r>
            <a:endParaRPr lang="en-US" altLang="ko-KR" sz="2000" dirty="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바코드를 부여한다</a:t>
            </a:r>
            <a:endParaRPr lang="en-US" altLang="ko-KR" sz="2000" dirty="0"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EDFF155-3FCC-4249-831B-B4CDE1C90818}"/>
              </a:ext>
            </a:extLst>
          </p:cNvPr>
          <p:cNvSpPr/>
          <p:nvPr/>
        </p:nvSpPr>
        <p:spPr>
          <a:xfrm>
            <a:off x="5633884" y="1736594"/>
            <a:ext cx="4017923" cy="1785104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왜 별도인가</a:t>
            </a:r>
            <a:r>
              <a:rPr lang="en-US" altLang="ko-KR" sz="2000">
                <a:latin typeface="+mn-ea"/>
              </a:rPr>
              <a:t>: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기준정보 중심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비교적 안정적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상품</a:t>
            </a:r>
            <a:r>
              <a:rPr lang="en-US" altLang="ko-KR" sz="2000">
                <a:latin typeface="+mn-ea"/>
              </a:rPr>
              <a:t>MD </a:t>
            </a:r>
            <a:r>
              <a:rPr lang="ko-KR" altLang="en-US" sz="2000">
                <a:latin typeface="+mn-ea"/>
              </a:rPr>
              <a:t>관점 규칙이 우세</a:t>
            </a:r>
            <a:endParaRPr lang="en-US" altLang="ko-KR" sz="2000">
              <a:latin typeface="+mn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3E7F66F-6903-4072-8E75-D1A7F4E96CC7}"/>
              </a:ext>
            </a:extLst>
          </p:cNvPr>
          <p:cNvSpPr/>
          <p:nvPr/>
        </p:nvSpPr>
        <p:spPr>
          <a:xfrm>
            <a:off x="1012339" y="4720038"/>
            <a:ext cx="4424357" cy="224676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핵심용어</a:t>
            </a:r>
            <a:r>
              <a:rPr lang="en-US" altLang="ko-KR" sz="2000">
                <a:latin typeface="+mn-ea"/>
              </a:rPr>
              <a:t>: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품목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브랜드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대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중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소분류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바코드</a:t>
            </a:r>
            <a:endParaRPr lang="en-US" altLang="ko-KR" sz="2000">
              <a:latin typeface="+mn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A891B24-9569-4B52-AE1B-B75F1F5A0D9B}"/>
              </a:ext>
            </a:extLst>
          </p:cNvPr>
          <p:cNvSpPr/>
          <p:nvPr/>
        </p:nvSpPr>
        <p:spPr>
          <a:xfrm>
            <a:off x="4245918" y="5667810"/>
            <a:ext cx="5306960" cy="64633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컨텍스트 책임 </a:t>
            </a:r>
            <a:r>
              <a:rPr lang="en-US" altLang="ko-KR" dirty="0"/>
              <a:t>= </a:t>
            </a:r>
            <a:r>
              <a:rPr lang="ko-KR" altLang="en-US" dirty="0"/>
              <a:t>그 컨텍스트가 유일하게 정의하고 보장해야 하는 비즈니스 규칙과 데이터의 소유권</a:t>
            </a:r>
          </a:p>
        </p:txBody>
      </p:sp>
    </p:spTree>
    <p:extLst>
      <p:ext uri="{BB962C8B-B14F-4D97-AF65-F5344CB8AC3E}">
        <p14:creationId xmlns:p14="http://schemas.microsoft.com/office/powerpoint/2010/main" val="1100825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15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2231380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바운디드 컨택스트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03</a:t>
            </a:r>
            <a:endParaRPr lang="ko-KR" altLang="en-US" dirty="0"/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679260" y="1282239"/>
            <a:ext cx="2545258" cy="3332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/>
              <a:t>프라이싱 컨택스트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20B3DC-FBB0-4BA1-A49B-93D6516E3F09}"/>
              </a:ext>
            </a:extLst>
          </p:cNvPr>
          <p:cNvSpPr/>
          <p:nvPr/>
        </p:nvSpPr>
        <p:spPr>
          <a:xfrm>
            <a:off x="582722" y="4472983"/>
            <a:ext cx="3458338" cy="224676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핵심 용어</a:t>
            </a:r>
            <a:r>
              <a:rPr lang="en-US" altLang="ko-KR" sz="2000">
                <a:latin typeface="+mn-ea"/>
              </a:rPr>
              <a:t>: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가격정책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적용기간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예외단가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할인율</a:t>
            </a:r>
            <a:endParaRPr lang="en-US" altLang="ko-KR" sz="2000"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EDFF155-3FCC-4249-831B-B4CDE1C90818}"/>
              </a:ext>
            </a:extLst>
          </p:cNvPr>
          <p:cNvSpPr/>
          <p:nvPr/>
        </p:nvSpPr>
        <p:spPr>
          <a:xfrm>
            <a:off x="5567517" y="4472983"/>
            <a:ext cx="4017923" cy="2092881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왜 별도인가</a:t>
            </a:r>
            <a:r>
              <a:rPr lang="en-US" altLang="ko-KR" sz="2000">
                <a:latin typeface="+mn-ea"/>
              </a:rPr>
              <a:t>: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시간에 따라 변함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영업 정책이 중심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현재값보다 유효기간과 정책 계산이 중요</a:t>
            </a:r>
            <a:endParaRPr lang="en-US" altLang="ko-KR" sz="2000">
              <a:latin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7CCEFF-2603-4111-A8D7-95CD0788A6F2}"/>
              </a:ext>
            </a:extLst>
          </p:cNvPr>
          <p:cNvSpPr/>
          <p:nvPr/>
        </p:nvSpPr>
        <p:spPr>
          <a:xfrm>
            <a:off x="582722" y="1971833"/>
            <a:ext cx="5574730" cy="224676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책임</a:t>
            </a:r>
            <a:r>
              <a:rPr lang="en-US" altLang="ko-KR" sz="2000">
                <a:latin typeface="+mn-ea"/>
              </a:rPr>
              <a:t>: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상품 가격을 정한다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기간별 가격을 설정한다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특정 고객에게 다른 가격을 적용한다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할인 정책을 관리한다</a:t>
            </a:r>
            <a:endParaRPr lang="en-US" altLang="ko-KR" sz="2000"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AD23E3-B61F-4CF6-9DEB-74DF2077ABBF}"/>
              </a:ext>
            </a:extLst>
          </p:cNvPr>
          <p:cNvSpPr/>
          <p:nvPr/>
        </p:nvSpPr>
        <p:spPr>
          <a:xfrm>
            <a:off x="5567517" y="1983922"/>
            <a:ext cx="4505632" cy="2092881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중요 규칙</a:t>
            </a:r>
            <a:r>
              <a:rPr lang="en-US" altLang="ko-KR" sz="2000">
                <a:latin typeface="+mn-ea"/>
              </a:rPr>
              <a:t>: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가격은 기간을 가진다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고객별 예외 가격이 가능하다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할인 정책은 브랜드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상품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고객 조건을 따른다</a:t>
            </a:r>
            <a:endParaRPr lang="en-US" altLang="ko-KR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76720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16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2231380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바운디드 컨택스트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03</a:t>
            </a:r>
            <a:endParaRPr lang="ko-KR" altLang="en-US" dirty="0"/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679260" y="1282239"/>
            <a:ext cx="2545258" cy="3332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/>
              <a:t>파트너 컨택스트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20B3DC-FBB0-4BA1-A49B-93D6516E3F09}"/>
              </a:ext>
            </a:extLst>
          </p:cNvPr>
          <p:cNvSpPr/>
          <p:nvPr/>
        </p:nvSpPr>
        <p:spPr>
          <a:xfrm>
            <a:off x="1246399" y="4628486"/>
            <a:ext cx="3458338" cy="224676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핵심 용어</a:t>
            </a:r>
            <a:r>
              <a:rPr lang="en-US" altLang="ko-KR" sz="2000">
                <a:latin typeface="+mn-ea"/>
              </a:rPr>
              <a:t>: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거래처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주소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계좌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사업자정보</a:t>
            </a:r>
            <a:endParaRPr lang="en-US" altLang="ko-KR" sz="2000"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EDFF155-3FCC-4249-831B-B4CDE1C90818}"/>
              </a:ext>
            </a:extLst>
          </p:cNvPr>
          <p:cNvSpPr/>
          <p:nvPr/>
        </p:nvSpPr>
        <p:spPr>
          <a:xfrm>
            <a:off x="5439697" y="4582319"/>
            <a:ext cx="4017923" cy="1169551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왜 별도인가</a:t>
            </a:r>
            <a:r>
              <a:rPr lang="en-US" altLang="ko-KR" sz="2000">
                <a:latin typeface="+mn-ea"/>
              </a:rPr>
              <a:t>: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상대방 식별과 기준정보가 중심</a:t>
            </a:r>
            <a:endParaRPr lang="en-US" altLang="ko-KR" sz="2000">
              <a:latin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7CCEFF-2603-4111-A8D7-95CD0788A6F2}"/>
              </a:ext>
            </a:extLst>
          </p:cNvPr>
          <p:cNvSpPr/>
          <p:nvPr/>
        </p:nvSpPr>
        <p:spPr>
          <a:xfrm>
            <a:off x="1246398" y="1775116"/>
            <a:ext cx="4099891" cy="224676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책임</a:t>
            </a:r>
            <a:r>
              <a:rPr lang="en-US" altLang="ko-KR" sz="2000">
                <a:latin typeface="+mn-ea"/>
              </a:rPr>
              <a:t>: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거래처를 등록한다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주소를 관리한다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계좌를 관리한다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담당자를 관리한다</a:t>
            </a:r>
            <a:endParaRPr lang="en-US" altLang="ko-KR" sz="2000"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6C46ED9-254B-455C-A0CC-11D325B96AC8}"/>
              </a:ext>
            </a:extLst>
          </p:cNvPr>
          <p:cNvSpPr/>
          <p:nvPr/>
        </p:nvSpPr>
        <p:spPr>
          <a:xfrm>
            <a:off x="5346289" y="1722776"/>
            <a:ext cx="4017923" cy="1631216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중요 규칙</a:t>
            </a:r>
            <a:r>
              <a:rPr lang="en-US" altLang="ko-KR" sz="2000">
                <a:latin typeface="+mn-ea"/>
              </a:rPr>
              <a:t>: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거래처는 고유하게 식별된다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주소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계좌는 거래처에 종속된다</a:t>
            </a:r>
            <a:endParaRPr lang="en-US" altLang="ko-KR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20431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17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2231380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바운디드 컨택스트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03</a:t>
            </a:r>
            <a:endParaRPr lang="ko-KR" altLang="en-US" dirty="0"/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679260" y="1282239"/>
            <a:ext cx="2545258" cy="3332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Credit</a:t>
            </a:r>
            <a:r>
              <a:rPr lang="ko-KR" altLang="en-US" sz="2400"/>
              <a:t> 컨택스트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20B3DC-FBB0-4BA1-A49B-93D6516E3F09}"/>
              </a:ext>
            </a:extLst>
          </p:cNvPr>
          <p:cNvSpPr/>
          <p:nvPr/>
        </p:nvSpPr>
        <p:spPr>
          <a:xfrm>
            <a:off x="1246398" y="4130596"/>
            <a:ext cx="3458338" cy="224676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핵심 용어</a:t>
            </a:r>
            <a:r>
              <a:rPr lang="en-US" altLang="ko-KR" sz="2000">
                <a:latin typeface="+mn-ea"/>
              </a:rPr>
              <a:t>: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한도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사용액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승인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제한</a:t>
            </a:r>
            <a:endParaRPr lang="en-US" altLang="ko-KR" sz="2000"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EDFF155-3FCC-4249-831B-B4CDE1C90818}"/>
              </a:ext>
            </a:extLst>
          </p:cNvPr>
          <p:cNvSpPr/>
          <p:nvPr/>
        </p:nvSpPr>
        <p:spPr>
          <a:xfrm>
            <a:off x="5311877" y="4130596"/>
            <a:ext cx="4017923" cy="2092881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왜 파트너와 분리할 수 있나</a:t>
            </a:r>
            <a:r>
              <a:rPr lang="en-US" altLang="ko-KR" sz="2000">
                <a:latin typeface="+mn-ea"/>
              </a:rPr>
              <a:t>?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거래처 자체보다 통제 규칙이 핵심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변경 이유가 다름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정책성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계산성 규칙이 많음</a:t>
            </a:r>
            <a:endParaRPr lang="en-US" altLang="ko-KR" sz="2000">
              <a:latin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7CCEFF-2603-4111-A8D7-95CD0788A6F2}"/>
              </a:ext>
            </a:extLst>
          </p:cNvPr>
          <p:cNvSpPr/>
          <p:nvPr/>
        </p:nvSpPr>
        <p:spPr>
          <a:xfrm>
            <a:off x="1246398" y="1775116"/>
            <a:ext cx="3841795" cy="1785104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책임</a:t>
            </a:r>
            <a:r>
              <a:rPr lang="en-US" altLang="ko-KR" sz="2000">
                <a:latin typeface="+mn-ea"/>
              </a:rPr>
              <a:t>: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거래처 한도를 설정한다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사용 금액을 계산한다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출하 가능 여부를 판단한다</a:t>
            </a:r>
            <a:endParaRPr lang="en-US" altLang="ko-KR" sz="2000"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A67DBA4-FC15-4AA0-865D-01A9814C12AB}"/>
              </a:ext>
            </a:extLst>
          </p:cNvPr>
          <p:cNvSpPr/>
          <p:nvPr/>
        </p:nvSpPr>
        <p:spPr>
          <a:xfrm>
            <a:off x="5311878" y="1775116"/>
            <a:ext cx="4017923" cy="132343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중요 규칙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한도를 초과하면 출하 불가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특정 조건에서 거래 제한 가능</a:t>
            </a:r>
            <a:endParaRPr lang="en-US" altLang="ko-KR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47631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18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2231380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바운디드 컨택스트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03</a:t>
            </a:r>
            <a:endParaRPr lang="ko-KR" altLang="en-US" dirty="0"/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679259" y="1282239"/>
            <a:ext cx="4681779" cy="3332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/>
              <a:t>Inventory Context</a:t>
            </a:r>
            <a:endParaRPr lang="ko-KR" altLang="en-US" sz="24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20B3DC-FBB0-4BA1-A49B-93D6516E3F09}"/>
              </a:ext>
            </a:extLst>
          </p:cNvPr>
          <p:cNvSpPr/>
          <p:nvPr/>
        </p:nvSpPr>
        <p:spPr>
          <a:xfrm>
            <a:off x="5756787" y="4001422"/>
            <a:ext cx="3458338" cy="2708434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핵심 용어</a:t>
            </a:r>
            <a:r>
              <a:rPr lang="en-US" altLang="ko-KR" sz="2000">
                <a:latin typeface="+mn-ea"/>
              </a:rPr>
              <a:t>: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가용재고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로케이션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이동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적치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피킹</a:t>
            </a:r>
            <a:endParaRPr lang="en-US" altLang="ko-KR" sz="2000"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EDFF155-3FCC-4249-831B-B4CDE1C90818}"/>
              </a:ext>
            </a:extLst>
          </p:cNvPr>
          <p:cNvSpPr/>
          <p:nvPr/>
        </p:nvSpPr>
        <p:spPr>
          <a:xfrm>
            <a:off x="4857136" y="1972568"/>
            <a:ext cx="4017923" cy="1631216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왜 별도인가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운영규칙과 실시간성 요구가 강함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가격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상품과는 다른 모델</a:t>
            </a:r>
            <a:endParaRPr lang="en-US" altLang="ko-KR" sz="2000">
              <a:latin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7CCEFF-2603-4111-A8D7-95CD0788A6F2}"/>
              </a:ext>
            </a:extLst>
          </p:cNvPr>
          <p:cNvSpPr/>
          <p:nvPr/>
        </p:nvSpPr>
        <p:spPr>
          <a:xfrm>
            <a:off x="855566" y="1900477"/>
            <a:ext cx="3610737" cy="2554545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책임</a:t>
            </a:r>
            <a:r>
              <a:rPr lang="en-US" altLang="ko-KR" sz="2000">
                <a:latin typeface="+mn-ea"/>
              </a:rPr>
              <a:t>: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재고를 증가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감소시킨다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재고 이동을 처리한다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로케이션에 재고를 배치한다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가용재고를 계산한다</a:t>
            </a:r>
            <a:endParaRPr lang="en-US" altLang="ko-KR" sz="2000"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21AAED-A86C-49DC-BB96-5C9027A3627C}"/>
              </a:ext>
            </a:extLst>
          </p:cNvPr>
          <p:cNvSpPr/>
          <p:nvPr/>
        </p:nvSpPr>
        <p:spPr>
          <a:xfrm>
            <a:off x="839213" y="4812118"/>
            <a:ext cx="4787297" cy="1785104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주요 규칙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재고는 위치</a:t>
            </a:r>
            <a:r>
              <a:rPr lang="en-US" altLang="ko-KR" sz="2000">
                <a:latin typeface="+mn-ea"/>
              </a:rPr>
              <a:t>(</a:t>
            </a:r>
            <a:r>
              <a:rPr lang="ko-KR" altLang="en-US" sz="2000">
                <a:latin typeface="+mn-ea"/>
              </a:rPr>
              <a:t>로케이션</a:t>
            </a:r>
            <a:r>
              <a:rPr lang="en-US" altLang="ko-KR" sz="2000">
                <a:latin typeface="+mn-ea"/>
              </a:rPr>
              <a:t>)</a:t>
            </a:r>
            <a:r>
              <a:rPr lang="ko-KR" altLang="en-US" sz="2000">
                <a:latin typeface="+mn-ea"/>
              </a:rPr>
              <a:t>에 종속된다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이동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출고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입고는 반드시 기록된다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가용재고 계산 규칙이 존재한다</a:t>
            </a:r>
            <a:endParaRPr lang="en-US" altLang="ko-KR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77760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19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2231380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바운디드 컨택스트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03</a:t>
            </a:r>
            <a:endParaRPr lang="ko-KR" altLang="en-US" dirty="0"/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679259" y="1282239"/>
            <a:ext cx="4681779" cy="3332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Export Planning Context</a:t>
            </a:r>
            <a:endParaRPr lang="ko-KR" altLang="en-US" sz="24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20B3DC-FBB0-4BA1-A49B-93D6516E3F09}"/>
              </a:ext>
            </a:extLst>
          </p:cNvPr>
          <p:cNvSpPr/>
          <p:nvPr/>
        </p:nvSpPr>
        <p:spPr>
          <a:xfrm>
            <a:off x="1162825" y="4452375"/>
            <a:ext cx="3458338" cy="224676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핵심 용어</a:t>
            </a:r>
            <a:r>
              <a:rPr lang="en-US" altLang="ko-KR" sz="2000">
                <a:latin typeface="+mn-ea"/>
              </a:rPr>
              <a:t>: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계획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라인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검토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승인</a:t>
            </a:r>
            <a:endParaRPr lang="en-US" altLang="ko-KR" sz="2000"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EDFF155-3FCC-4249-831B-B4CDE1C90818}"/>
              </a:ext>
            </a:extLst>
          </p:cNvPr>
          <p:cNvSpPr/>
          <p:nvPr/>
        </p:nvSpPr>
        <p:spPr>
          <a:xfrm>
            <a:off x="5197275" y="4452375"/>
            <a:ext cx="4017923" cy="2092881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왜 별도인가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명백한 업무객체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상태 흐름이 중요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Catalog</a:t>
            </a:r>
            <a:r>
              <a:rPr lang="ko-KR" altLang="en-US" sz="2000">
                <a:latin typeface="+mn-ea"/>
              </a:rPr>
              <a:t>의 품목과는 다른 생명주기</a:t>
            </a:r>
            <a:endParaRPr lang="en-US" altLang="ko-KR" sz="2000">
              <a:latin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7CCEFF-2603-4111-A8D7-95CD0788A6F2}"/>
              </a:ext>
            </a:extLst>
          </p:cNvPr>
          <p:cNvSpPr/>
          <p:nvPr/>
        </p:nvSpPr>
        <p:spPr>
          <a:xfrm>
            <a:off x="1162825" y="1987483"/>
            <a:ext cx="3790175" cy="2092881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 dirty="0">
                <a:latin typeface="+mn-ea"/>
              </a:rPr>
              <a:t>책임</a:t>
            </a:r>
            <a:r>
              <a:rPr lang="en-US" altLang="ko-KR" sz="2000" dirty="0">
                <a:latin typeface="+mn-ea"/>
              </a:rPr>
              <a:t>: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수출 계획을 생성한다</a:t>
            </a:r>
            <a:endParaRPr lang="en-US" altLang="ko-KR" sz="2000" dirty="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어떤 상품을 얼마만큼 보낼지 결정한다</a:t>
            </a:r>
            <a:endParaRPr lang="en-US" altLang="ko-KR" sz="2000" dirty="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검토</a:t>
            </a:r>
            <a:r>
              <a:rPr lang="en-US" altLang="ko-KR" sz="2000" dirty="0">
                <a:latin typeface="+mn-ea"/>
              </a:rPr>
              <a:t>/</a:t>
            </a:r>
            <a:r>
              <a:rPr lang="ko-KR" altLang="en-US" sz="2000" dirty="0">
                <a:latin typeface="+mn-ea"/>
              </a:rPr>
              <a:t>승인을 진행한다</a:t>
            </a:r>
            <a:endParaRPr lang="en-US" altLang="ko-KR" sz="2000" dirty="0"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4E503DD-C7CF-4C20-BD7D-D6109F62210F}"/>
              </a:ext>
            </a:extLst>
          </p:cNvPr>
          <p:cNvSpPr/>
          <p:nvPr/>
        </p:nvSpPr>
        <p:spPr>
          <a:xfrm>
            <a:off x="5197275" y="1987483"/>
            <a:ext cx="4370438" cy="1938992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 dirty="0">
                <a:latin typeface="+mn-ea"/>
              </a:rPr>
              <a:t>중요 규칙</a:t>
            </a:r>
            <a:endParaRPr lang="en-US" altLang="ko-KR" sz="2000" dirty="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계획은 상태를 가진다 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작성 → 검토 → 승인</a:t>
            </a:r>
            <a:r>
              <a:rPr lang="en-US" altLang="ko-KR" sz="2000" dirty="0">
                <a:latin typeface="+mn-ea"/>
              </a:rPr>
              <a:t>)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하나의 계획에 여러 상품이 포함된다</a:t>
            </a:r>
            <a:endParaRPr lang="en-US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5870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20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2231380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바운디드 컨택스트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03</a:t>
            </a:r>
            <a:endParaRPr lang="ko-KR" altLang="en-US" dirty="0"/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701382" y="1304362"/>
            <a:ext cx="4681779" cy="3332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IAM / Common Context</a:t>
            </a:r>
            <a:endParaRPr lang="ko-KR" altLang="en-US" sz="24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7CCEFF-2603-4111-A8D7-95CD0788A6F2}"/>
              </a:ext>
            </a:extLst>
          </p:cNvPr>
          <p:cNvSpPr/>
          <p:nvPr/>
        </p:nvSpPr>
        <p:spPr>
          <a:xfrm>
            <a:off x="1246399" y="1775116"/>
            <a:ext cx="3458338" cy="224676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책임</a:t>
            </a:r>
            <a:r>
              <a:rPr lang="en-US" altLang="ko-KR" sz="2000">
                <a:latin typeface="+mn-ea"/>
              </a:rPr>
              <a:t>: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사용자 관리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권한 관리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코드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단위 관리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번호 생성</a:t>
            </a:r>
            <a:endParaRPr lang="en-US" altLang="ko-KR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98649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21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4307974" cy="333233"/>
          </a:xfrm>
        </p:spPr>
        <p:txBody>
          <a:bodyPr/>
          <a:lstStyle/>
          <a:p>
            <a:r>
              <a:rPr lang="en-US" altLang="ko-KR"/>
              <a:t>Subdomain + Bounded Context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03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8579878-8959-4261-9751-D4CEB4840711}"/>
              </a:ext>
            </a:extLst>
          </p:cNvPr>
          <p:cNvSpPr/>
          <p:nvPr/>
        </p:nvSpPr>
        <p:spPr>
          <a:xfrm>
            <a:off x="1583667" y="1527162"/>
            <a:ext cx="2780071" cy="132735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Catalog Context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096511-A99A-478C-8016-1A3855966419}"/>
              </a:ext>
            </a:extLst>
          </p:cNvPr>
          <p:cNvSpPr txBox="1"/>
          <p:nvPr/>
        </p:nvSpPr>
        <p:spPr>
          <a:xfrm>
            <a:off x="2345542" y="1157830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>
                <a:latin typeface="KoPub돋움체 Medium"/>
                <a:ea typeface="KoPub돋움체 Medium"/>
              </a:rPr>
              <a:t>상풍관리 </a:t>
            </a:r>
            <a:r>
              <a:rPr lang="en-US" altLang="ko-KR">
                <a:latin typeface="KoPub돋움체 Medium"/>
                <a:ea typeface="KoPub돋움체 Medium"/>
              </a:rPr>
              <a:t>SD</a:t>
            </a:r>
            <a:endParaRPr lang="ko-KR" altLang="en-US">
              <a:latin typeface="KoPub돋움체 Medium"/>
              <a:ea typeface="KoPub돋움체 Medium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D1BBA16-7CA8-45D0-8533-74C550ABC77A}"/>
              </a:ext>
            </a:extLst>
          </p:cNvPr>
          <p:cNvSpPr/>
          <p:nvPr/>
        </p:nvSpPr>
        <p:spPr>
          <a:xfrm>
            <a:off x="1583667" y="3481852"/>
            <a:ext cx="2780071" cy="7214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/>
                </a:solidFill>
              </a:rPr>
              <a:t>Pricing Context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26E841-83B0-4FB3-B6D7-CB97CC4414BF}"/>
              </a:ext>
            </a:extLst>
          </p:cNvPr>
          <p:cNvSpPr txBox="1"/>
          <p:nvPr/>
        </p:nvSpPr>
        <p:spPr>
          <a:xfrm>
            <a:off x="2038192" y="3112520"/>
            <a:ext cx="187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>
                <a:latin typeface="KoPub돋움체 Medium"/>
                <a:ea typeface="KoPub돋움체 Medium"/>
              </a:rPr>
              <a:t>가격</a:t>
            </a:r>
            <a:r>
              <a:rPr lang="en-US" altLang="ko-KR">
                <a:latin typeface="KoPub돋움체 Medium"/>
                <a:ea typeface="KoPub돋움체 Medium"/>
              </a:rPr>
              <a:t>/</a:t>
            </a:r>
            <a:r>
              <a:rPr lang="ko-KR" altLang="en-US">
                <a:latin typeface="KoPub돋움체 Medium"/>
                <a:ea typeface="KoPub돋움체 Medium"/>
              </a:rPr>
              <a:t>거래조건 </a:t>
            </a:r>
            <a:r>
              <a:rPr lang="en-US" altLang="ko-KR">
                <a:latin typeface="KoPub돋움체 Medium"/>
                <a:ea typeface="KoPub돋움체 Medium"/>
              </a:rPr>
              <a:t>SD</a:t>
            </a:r>
            <a:endParaRPr lang="ko-KR" altLang="en-US">
              <a:latin typeface="KoPub돋움체 Medium"/>
              <a:ea typeface="KoPub돋움체 Medium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889A72D-AE55-4262-AE63-DB2E14EF9303}"/>
              </a:ext>
            </a:extLst>
          </p:cNvPr>
          <p:cNvSpPr/>
          <p:nvPr/>
        </p:nvSpPr>
        <p:spPr>
          <a:xfrm>
            <a:off x="1583667" y="4799024"/>
            <a:ext cx="2780071" cy="7214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/>
                </a:solidFill>
              </a:rPr>
              <a:t>Credit Context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903930-AB7F-4677-8177-EF0B76F0EBA6}"/>
              </a:ext>
            </a:extLst>
          </p:cNvPr>
          <p:cNvSpPr txBox="1"/>
          <p:nvPr/>
        </p:nvSpPr>
        <p:spPr>
          <a:xfrm>
            <a:off x="2240171" y="4429692"/>
            <a:ext cx="1467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>
                <a:latin typeface="KoPub돋움체 Medium"/>
                <a:ea typeface="KoPub돋움체 Medium"/>
              </a:rPr>
              <a:t>여신</a:t>
            </a:r>
            <a:r>
              <a:rPr lang="en-US" altLang="ko-KR">
                <a:latin typeface="KoPub돋움체 Medium"/>
                <a:ea typeface="KoPub돋움체 Medium"/>
              </a:rPr>
              <a:t>/</a:t>
            </a:r>
            <a:r>
              <a:rPr lang="ko-KR" altLang="en-US">
                <a:latin typeface="KoPub돋움체 Medium"/>
                <a:ea typeface="KoPub돋움체 Medium"/>
              </a:rPr>
              <a:t>통제 </a:t>
            </a:r>
            <a:r>
              <a:rPr lang="en-US" altLang="ko-KR">
                <a:latin typeface="KoPub돋움체 Medium"/>
                <a:ea typeface="KoPub돋움체 Medium"/>
              </a:rPr>
              <a:t>SD</a:t>
            </a:r>
            <a:endParaRPr lang="ko-KR" altLang="en-US">
              <a:latin typeface="KoPub돋움체 Medium"/>
              <a:ea typeface="KoPub돋움체 Medium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60A71F-228B-4EF3-8D18-A7B9FB3591C1}"/>
              </a:ext>
            </a:extLst>
          </p:cNvPr>
          <p:cNvSpPr/>
          <p:nvPr/>
        </p:nvSpPr>
        <p:spPr>
          <a:xfrm>
            <a:off x="1583667" y="6084418"/>
            <a:ext cx="2780071" cy="7214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Inventory Context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B2AF05-D638-40C0-8C77-501AEC5317A7}"/>
              </a:ext>
            </a:extLst>
          </p:cNvPr>
          <p:cNvSpPr txBox="1"/>
          <p:nvPr/>
        </p:nvSpPr>
        <p:spPr>
          <a:xfrm>
            <a:off x="2323747" y="5715086"/>
            <a:ext cx="1467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>
                <a:latin typeface="KoPub돋움체 Medium"/>
                <a:ea typeface="KoPub돋움체 Medium"/>
              </a:rPr>
              <a:t>재고</a:t>
            </a:r>
            <a:r>
              <a:rPr lang="en-US" altLang="ko-KR">
                <a:latin typeface="KoPub돋움체 Medium"/>
                <a:ea typeface="KoPub돋움체 Medium"/>
              </a:rPr>
              <a:t>/</a:t>
            </a:r>
            <a:r>
              <a:rPr lang="ko-KR" altLang="en-US">
                <a:latin typeface="KoPub돋움체 Medium"/>
                <a:ea typeface="KoPub돋움체 Medium"/>
              </a:rPr>
              <a:t>물류 </a:t>
            </a:r>
            <a:r>
              <a:rPr lang="en-US" altLang="ko-KR">
                <a:latin typeface="KoPub돋움체 Medium"/>
                <a:ea typeface="KoPub돋움체 Medium"/>
              </a:rPr>
              <a:t>SD</a:t>
            </a:r>
            <a:endParaRPr lang="ko-KR" altLang="en-US">
              <a:latin typeface="KoPub돋움체 Medium"/>
              <a:ea typeface="KoPub돋움체 Medium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2A0229B-DA36-4E5A-82A7-8E85F7275CB4}"/>
              </a:ext>
            </a:extLst>
          </p:cNvPr>
          <p:cNvSpPr/>
          <p:nvPr/>
        </p:nvSpPr>
        <p:spPr>
          <a:xfrm>
            <a:off x="5792588" y="2954568"/>
            <a:ext cx="2780071" cy="7214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/>
                </a:solidFill>
              </a:rPr>
              <a:t>Export Context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B63699-674B-4C5B-9FCD-0BBE2B801437}"/>
              </a:ext>
            </a:extLst>
          </p:cNvPr>
          <p:cNvSpPr txBox="1"/>
          <p:nvPr/>
        </p:nvSpPr>
        <p:spPr>
          <a:xfrm>
            <a:off x="6449094" y="2585236"/>
            <a:ext cx="1467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>
                <a:latin typeface="KoPub돋움체 Medium"/>
                <a:ea typeface="KoPub돋움체 Medium"/>
              </a:rPr>
              <a:t>수출</a:t>
            </a:r>
            <a:r>
              <a:rPr lang="en-US" altLang="ko-KR">
                <a:latin typeface="KoPub돋움체 Medium"/>
                <a:ea typeface="KoPub돋움체 Medium"/>
              </a:rPr>
              <a:t>/</a:t>
            </a:r>
            <a:r>
              <a:rPr lang="ko-KR" altLang="en-US">
                <a:latin typeface="KoPub돋움체 Medium"/>
                <a:ea typeface="KoPub돋움체 Medium"/>
              </a:rPr>
              <a:t>업무 </a:t>
            </a:r>
            <a:r>
              <a:rPr lang="en-US" altLang="ko-KR">
                <a:latin typeface="KoPub돋움체 Medium"/>
                <a:ea typeface="KoPub돋움체 Medium"/>
              </a:rPr>
              <a:t>SD</a:t>
            </a:r>
            <a:endParaRPr lang="ko-KR" altLang="en-US">
              <a:latin typeface="KoPub돋움체 Medium"/>
              <a:ea typeface="KoPub돋움체 Medium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9ECD0F9-8917-4EE5-BEE2-1A59EABC5B52}"/>
              </a:ext>
            </a:extLst>
          </p:cNvPr>
          <p:cNvSpPr/>
          <p:nvPr/>
        </p:nvSpPr>
        <p:spPr>
          <a:xfrm>
            <a:off x="5792588" y="4402449"/>
            <a:ext cx="2780071" cy="7214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/>
                </a:solidFill>
              </a:rPr>
              <a:t>IAM Context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23370B-56CE-4FAA-8EC1-0AD2291D9B93}"/>
              </a:ext>
            </a:extLst>
          </p:cNvPr>
          <p:cNvSpPr txBox="1"/>
          <p:nvPr/>
        </p:nvSpPr>
        <p:spPr>
          <a:xfrm>
            <a:off x="6449094" y="4033117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>
                <a:latin typeface="KoPub돋움체 Medium"/>
                <a:ea typeface="KoPub돋움체 Medium"/>
              </a:rPr>
              <a:t>공통</a:t>
            </a:r>
            <a:r>
              <a:rPr lang="en-US" altLang="ko-KR">
                <a:latin typeface="KoPub돋움체 Medium"/>
                <a:ea typeface="KoPub돋움체 Medium"/>
              </a:rPr>
              <a:t>/</a:t>
            </a:r>
            <a:r>
              <a:rPr lang="ko-KR" altLang="en-US">
                <a:latin typeface="KoPub돋움체 Medium"/>
                <a:ea typeface="KoPub돋움체 Medium"/>
              </a:rPr>
              <a:t>운영 </a:t>
            </a:r>
            <a:r>
              <a:rPr lang="en-US" altLang="ko-KR">
                <a:latin typeface="KoPub돋움체 Medium"/>
                <a:ea typeface="KoPub돋움체 Medium"/>
              </a:rPr>
              <a:t>SD</a:t>
            </a:r>
            <a:endParaRPr lang="ko-KR" altLang="en-US">
              <a:latin typeface="KoPub돋움체 Medium"/>
              <a:ea typeface="KoPub돋움체 Medium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1857AE7-CF48-4270-8855-78731BE5669D}"/>
              </a:ext>
            </a:extLst>
          </p:cNvPr>
          <p:cNvSpPr/>
          <p:nvPr/>
        </p:nvSpPr>
        <p:spPr>
          <a:xfrm>
            <a:off x="5792588" y="1494465"/>
            <a:ext cx="2780071" cy="7214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/>
                </a:solidFill>
              </a:rPr>
              <a:t>Partner Context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545A1F-6E31-494C-9830-92A40B217885}"/>
              </a:ext>
            </a:extLst>
          </p:cNvPr>
          <p:cNvSpPr txBox="1"/>
          <p:nvPr/>
        </p:nvSpPr>
        <p:spPr>
          <a:xfrm>
            <a:off x="6399401" y="1125133"/>
            <a:ext cx="1566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>
                <a:latin typeface="KoPub돋움체 Medium"/>
                <a:ea typeface="KoPub돋움체 Medium"/>
              </a:rPr>
              <a:t>거래처관리 </a:t>
            </a:r>
            <a:r>
              <a:rPr lang="en-US" altLang="ko-KR">
                <a:latin typeface="KoPub돋움체 Medium"/>
                <a:ea typeface="KoPub돋움체 Medium"/>
              </a:rPr>
              <a:t>SD</a:t>
            </a:r>
            <a:endParaRPr lang="ko-KR" altLang="en-US">
              <a:latin typeface="KoPub돋움체 Medium"/>
              <a:ea typeface="KoPub돋움체 Medium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8A005A-2893-40CB-9F68-CA32E4F7156D}"/>
              </a:ext>
            </a:extLst>
          </p:cNvPr>
          <p:cNvSpPr txBox="1"/>
          <p:nvPr/>
        </p:nvSpPr>
        <p:spPr>
          <a:xfrm>
            <a:off x="4790294" y="5882527"/>
            <a:ext cx="5017172" cy="9233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KoPub돋움체 Medium"/>
                <a:ea typeface="KoPub돋움체 Medium"/>
              </a:rPr>
              <a:t>subdomain: </a:t>
            </a:r>
            <a:r>
              <a:rPr lang="ko-KR" altLang="en-US">
                <a:latin typeface="KoPub돋움체 Medium"/>
                <a:ea typeface="KoPub돋움체 Medium"/>
              </a:rPr>
              <a:t>무슨 일을 하는가</a:t>
            </a:r>
            <a:r>
              <a:rPr lang="en-US" altLang="ko-KR">
                <a:latin typeface="KoPub돋움체 Medium"/>
                <a:ea typeface="KoPub돋움체 Medium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KoPub돋움체 Medium"/>
                <a:ea typeface="KoPub돋움체 Medium"/>
              </a:rPr>
              <a:t>Context: </a:t>
            </a:r>
            <a:r>
              <a:rPr lang="ko-KR" altLang="en-US">
                <a:latin typeface="KoPub돋움체 Medium"/>
                <a:ea typeface="KoPub돋움체 Medium"/>
              </a:rPr>
              <a:t>그 일을 어떤 모델과 책임으로 구현할 것인가</a:t>
            </a:r>
            <a:r>
              <a:rPr lang="en-US" altLang="ko-KR">
                <a:latin typeface="KoPub돋움체 Medium"/>
                <a:ea typeface="KoPub돋움체 Medium"/>
              </a:rPr>
              <a:t>?</a:t>
            </a:r>
            <a:endParaRPr lang="ko-KR" altLang="en-US">
              <a:latin typeface="KoPub돋움체 Medium"/>
              <a:ea typeface="KoPub돋움체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360478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22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1428276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컨택스트 맵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04</a:t>
            </a:r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2A7BE79-1BD5-41DF-B898-D2B2C4069A05}"/>
              </a:ext>
            </a:extLst>
          </p:cNvPr>
          <p:cNvSpPr/>
          <p:nvPr/>
        </p:nvSpPr>
        <p:spPr>
          <a:xfrm>
            <a:off x="3765755" y="728819"/>
            <a:ext cx="2374490" cy="10987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tx1"/>
                </a:solidFill>
              </a:rPr>
              <a:t>[IAM/Common]</a:t>
            </a:r>
          </a:p>
          <a:p>
            <a:pPr algn="ctr"/>
            <a:r>
              <a:rPr lang="en-US" altLang="ko-KR" sz="1600">
                <a:solidFill>
                  <a:schemeClr val="tx1"/>
                </a:solidFill>
              </a:rPr>
              <a:t>(</a:t>
            </a:r>
            <a:r>
              <a:rPr lang="ko-KR" altLang="en-US" sz="1600">
                <a:solidFill>
                  <a:schemeClr val="tx1"/>
                </a:solidFill>
              </a:rPr>
              <a:t>사용자</a:t>
            </a:r>
            <a:r>
              <a:rPr lang="en-US" altLang="ko-KR" sz="1600">
                <a:solidFill>
                  <a:schemeClr val="tx1"/>
                </a:solidFill>
              </a:rPr>
              <a:t>, </a:t>
            </a:r>
            <a:r>
              <a:rPr lang="ko-KR" altLang="en-US" sz="1600">
                <a:solidFill>
                  <a:schemeClr val="tx1"/>
                </a:solidFill>
              </a:rPr>
              <a:t>권한</a:t>
            </a:r>
            <a:r>
              <a:rPr lang="en-US" altLang="ko-KR" sz="1600">
                <a:solidFill>
                  <a:schemeClr val="tx1"/>
                </a:solidFill>
              </a:rPr>
              <a:t>, </a:t>
            </a:r>
            <a:r>
              <a:rPr lang="ko-KR" altLang="en-US" sz="1600">
                <a:solidFill>
                  <a:schemeClr val="tx1"/>
                </a:solidFill>
              </a:rPr>
              <a:t>코드</a:t>
            </a:r>
            <a:r>
              <a:rPr lang="en-US" altLang="ko-KR" sz="1600">
                <a:solidFill>
                  <a:schemeClr val="tx1"/>
                </a:solidFill>
              </a:rPr>
              <a:t>, </a:t>
            </a:r>
            <a:r>
              <a:rPr lang="ko-KR" altLang="en-US" sz="1600">
                <a:solidFill>
                  <a:schemeClr val="tx1"/>
                </a:solidFill>
              </a:rPr>
              <a:t>채번</a:t>
            </a:r>
            <a:r>
              <a:rPr lang="en-US" altLang="ko-KR" sz="1600">
                <a:solidFill>
                  <a:schemeClr val="tx1"/>
                </a:solidFill>
              </a:rPr>
              <a:t>, </a:t>
            </a:r>
            <a:r>
              <a:rPr lang="ko-KR" altLang="en-US" sz="1600">
                <a:solidFill>
                  <a:schemeClr val="tx1"/>
                </a:solidFill>
              </a:rPr>
              <a:t>단위</a:t>
            </a:r>
            <a:r>
              <a:rPr lang="en-US" altLang="ko-KR" sz="1600">
                <a:solidFill>
                  <a:schemeClr val="tx1"/>
                </a:solidFill>
              </a:rPr>
              <a:t>)</a:t>
            </a:r>
            <a:endParaRPr lang="ko-KR" altLang="en-US" sz="160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3C10DAB-BA6A-46B6-952D-46881A42AD30}"/>
              </a:ext>
            </a:extLst>
          </p:cNvPr>
          <p:cNvSpPr/>
          <p:nvPr/>
        </p:nvSpPr>
        <p:spPr>
          <a:xfrm>
            <a:off x="432699" y="2316729"/>
            <a:ext cx="2374490" cy="1098755"/>
          </a:xfrm>
          <a:prstGeom prst="round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tx1"/>
                </a:solidFill>
              </a:rPr>
              <a:t>[Catalog]</a:t>
            </a:r>
          </a:p>
          <a:p>
            <a:pPr algn="ctr"/>
            <a:r>
              <a:rPr lang="en-US" altLang="ko-KR" sz="1600">
                <a:solidFill>
                  <a:schemeClr val="tx1"/>
                </a:solidFill>
              </a:rPr>
              <a:t>(</a:t>
            </a:r>
            <a:r>
              <a:rPr lang="ko-KR" altLang="en-US" sz="1600">
                <a:solidFill>
                  <a:schemeClr val="tx1"/>
                </a:solidFill>
              </a:rPr>
              <a:t>상품</a:t>
            </a:r>
            <a:r>
              <a:rPr lang="en-US" altLang="ko-KR" sz="1600">
                <a:solidFill>
                  <a:schemeClr val="tx1"/>
                </a:solidFill>
              </a:rPr>
              <a:t>/</a:t>
            </a:r>
            <a:r>
              <a:rPr lang="ko-KR" altLang="en-US" sz="1600">
                <a:solidFill>
                  <a:schemeClr val="tx1"/>
                </a:solidFill>
              </a:rPr>
              <a:t>분류</a:t>
            </a:r>
            <a:r>
              <a:rPr lang="en-US" altLang="ko-KR" sz="1600">
                <a:solidFill>
                  <a:schemeClr val="tx1"/>
                </a:solidFill>
              </a:rPr>
              <a:t>/</a:t>
            </a:r>
            <a:r>
              <a:rPr lang="ko-KR" altLang="en-US" sz="1600">
                <a:solidFill>
                  <a:schemeClr val="tx1"/>
                </a:solidFill>
              </a:rPr>
              <a:t>브랜드</a:t>
            </a:r>
            <a:r>
              <a:rPr lang="en-US" altLang="ko-KR" sz="1600">
                <a:solidFill>
                  <a:schemeClr val="tx1"/>
                </a:solidFill>
              </a:rPr>
              <a:t>)</a:t>
            </a:r>
            <a:endParaRPr lang="ko-KR" altLang="en-US" sz="160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3C9D1AA-D7B8-4EF3-AA8A-DAB78E91D92B}"/>
              </a:ext>
            </a:extLst>
          </p:cNvPr>
          <p:cNvSpPr/>
          <p:nvPr/>
        </p:nvSpPr>
        <p:spPr>
          <a:xfrm>
            <a:off x="3765755" y="2316729"/>
            <a:ext cx="2374490" cy="1098755"/>
          </a:xfrm>
          <a:prstGeom prst="round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tx1"/>
                </a:solidFill>
              </a:rPr>
              <a:t>[Pricing]</a:t>
            </a:r>
          </a:p>
          <a:p>
            <a:pPr algn="ctr"/>
            <a:r>
              <a:rPr lang="en-US" altLang="ko-KR" sz="1600">
                <a:solidFill>
                  <a:schemeClr val="tx1"/>
                </a:solidFill>
              </a:rPr>
              <a:t>(</a:t>
            </a:r>
            <a:r>
              <a:rPr lang="ko-KR" altLang="en-US" sz="1600">
                <a:solidFill>
                  <a:schemeClr val="tx1"/>
                </a:solidFill>
              </a:rPr>
              <a:t>가격</a:t>
            </a:r>
            <a:r>
              <a:rPr lang="en-US" altLang="ko-KR" sz="1600">
                <a:solidFill>
                  <a:schemeClr val="tx1"/>
                </a:solidFill>
              </a:rPr>
              <a:t>/</a:t>
            </a:r>
            <a:r>
              <a:rPr lang="ko-KR" altLang="en-US" sz="1600">
                <a:solidFill>
                  <a:schemeClr val="tx1"/>
                </a:solidFill>
              </a:rPr>
              <a:t>할인</a:t>
            </a:r>
            <a:r>
              <a:rPr lang="en-US" altLang="ko-KR" sz="1600">
                <a:solidFill>
                  <a:schemeClr val="tx1"/>
                </a:solidFill>
              </a:rPr>
              <a:t>/</a:t>
            </a:r>
            <a:r>
              <a:rPr lang="ko-KR" altLang="en-US" sz="1600">
                <a:solidFill>
                  <a:schemeClr val="tx1"/>
                </a:solidFill>
              </a:rPr>
              <a:t>거래조건</a:t>
            </a:r>
            <a:r>
              <a:rPr lang="en-US" altLang="ko-KR" sz="1600">
                <a:solidFill>
                  <a:schemeClr val="tx1"/>
                </a:solidFill>
              </a:rPr>
              <a:t>)</a:t>
            </a:r>
            <a:endParaRPr lang="ko-KR" altLang="en-US" sz="160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723B98A-4086-4EF7-BD61-BB49EE137C7F}"/>
              </a:ext>
            </a:extLst>
          </p:cNvPr>
          <p:cNvSpPr/>
          <p:nvPr/>
        </p:nvSpPr>
        <p:spPr>
          <a:xfrm>
            <a:off x="7016039" y="2316729"/>
            <a:ext cx="2374490" cy="1098755"/>
          </a:xfrm>
          <a:prstGeom prst="round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tx1"/>
                </a:solidFill>
              </a:rPr>
              <a:t>[Partner]</a:t>
            </a:r>
          </a:p>
          <a:p>
            <a:pPr algn="ctr"/>
            <a:r>
              <a:rPr lang="en-US" altLang="ko-KR" sz="1600">
                <a:solidFill>
                  <a:schemeClr val="tx1"/>
                </a:solidFill>
              </a:rPr>
              <a:t>(</a:t>
            </a:r>
            <a:r>
              <a:rPr lang="ko-KR" altLang="en-US" sz="1600">
                <a:solidFill>
                  <a:schemeClr val="tx1"/>
                </a:solidFill>
              </a:rPr>
              <a:t>거래처</a:t>
            </a:r>
            <a:r>
              <a:rPr lang="en-US" altLang="ko-KR" sz="1600">
                <a:solidFill>
                  <a:schemeClr val="tx1"/>
                </a:solidFill>
              </a:rPr>
              <a:t>/</a:t>
            </a:r>
            <a:r>
              <a:rPr lang="ko-KR" altLang="en-US" sz="1600">
                <a:solidFill>
                  <a:schemeClr val="tx1"/>
                </a:solidFill>
              </a:rPr>
              <a:t>주소</a:t>
            </a:r>
            <a:r>
              <a:rPr lang="en-US" altLang="ko-KR" sz="1600">
                <a:solidFill>
                  <a:schemeClr val="tx1"/>
                </a:solidFill>
              </a:rPr>
              <a:t>/</a:t>
            </a:r>
            <a:r>
              <a:rPr lang="ko-KR" altLang="en-US" sz="1600">
                <a:solidFill>
                  <a:schemeClr val="tx1"/>
                </a:solidFill>
              </a:rPr>
              <a:t>계좌</a:t>
            </a:r>
            <a:r>
              <a:rPr lang="en-US" altLang="ko-KR" sz="1600">
                <a:solidFill>
                  <a:schemeClr val="tx1"/>
                </a:solidFill>
              </a:rPr>
              <a:t>)</a:t>
            </a:r>
            <a:endParaRPr lang="ko-KR" altLang="en-US" sz="1600">
              <a:solidFill>
                <a:schemeClr val="tx1"/>
              </a:solidFill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CC835E3B-1893-4496-B9A6-A96F5A0F600B}"/>
              </a:ext>
            </a:extLst>
          </p:cNvPr>
          <p:cNvCxnSpPr/>
          <p:nvPr/>
        </p:nvCxnSpPr>
        <p:spPr>
          <a:xfrm>
            <a:off x="2807189" y="2866106"/>
            <a:ext cx="9585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01D1BD9-EC3A-4369-952A-DCB374C37578}"/>
              </a:ext>
            </a:extLst>
          </p:cNvPr>
          <p:cNvCxnSpPr>
            <a:cxnSpLocks/>
            <a:stCxn id="12" idx="2"/>
            <a:endCxn id="26" idx="0"/>
          </p:cNvCxnSpPr>
          <p:nvPr/>
        </p:nvCxnSpPr>
        <p:spPr>
          <a:xfrm>
            <a:off x="8203284" y="3415484"/>
            <a:ext cx="0" cy="7465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05EBB089-8CC6-4DA8-A13C-942E4535F2A2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5958348" y="1827574"/>
            <a:ext cx="2244936" cy="4891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BFB6AF8-0120-402D-ADA9-C4735EAED2BB}"/>
              </a:ext>
            </a:extLst>
          </p:cNvPr>
          <p:cNvCxnSpPr>
            <a:cxnSpLocks/>
            <a:stCxn id="11" idx="0"/>
            <a:endCxn id="4" idx="2"/>
          </p:cNvCxnSpPr>
          <p:nvPr/>
        </p:nvCxnSpPr>
        <p:spPr>
          <a:xfrm flipV="1">
            <a:off x="4953000" y="1827574"/>
            <a:ext cx="0" cy="4891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BF04DAE-A442-4E65-93B2-C5DA6EE6B398}"/>
              </a:ext>
            </a:extLst>
          </p:cNvPr>
          <p:cNvSpPr/>
          <p:nvPr/>
        </p:nvSpPr>
        <p:spPr>
          <a:xfrm>
            <a:off x="432699" y="4161995"/>
            <a:ext cx="2374490" cy="1098755"/>
          </a:xfrm>
          <a:prstGeom prst="round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tx1"/>
                </a:solidFill>
              </a:rPr>
              <a:t>[Inventory]</a:t>
            </a:r>
          </a:p>
          <a:p>
            <a:pPr algn="ctr"/>
            <a:r>
              <a:rPr lang="en-US" altLang="ko-KR" sz="1600">
                <a:solidFill>
                  <a:schemeClr val="tx1"/>
                </a:solidFill>
              </a:rPr>
              <a:t>(</a:t>
            </a:r>
            <a:r>
              <a:rPr lang="ko-KR" altLang="en-US" sz="1600">
                <a:solidFill>
                  <a:schemeClr val="tx1"/>
                </a:solidFill>
              </a:rPr>
              <a:t>재고</a:t>
            </a:r>
            <a:r>
              <a:rPr lang="en-US" altLang="ko-KR" sz="1600">
                <a:solidFill>
                  <a:schemeClr val="tx1"/>
                </a:solidFill>
              </a:rPr>
              <a:t>/</a:t>
            </a:r>
            <a:r>
              <a:rPr lang="ko-KR" altLang="en-US" sz="1600">
                <a:solidFill>
                  <a:schemeClr val="tx1"/>
                </a:solidFill>
              </a:rPr>
              <a:t>수불</a:t>
            </a:r>
            <a:r>
              <a:rPr lang="en-US" altLang="ko-KR" sz="1600">
                <a:solidFill>
                  <a:schemeClr val="tx1"/>
                </a:solidFill>
              </a:rPr>
              <a:t>/</a:t>
            </a:r>
            <a:r>
              <a:rPr lang="ko-KR" altLang="en-US" sz="1600">
                <a:solidFill>
                  <a:schemeClr val="tx1"/>
                </a:solidFill>
              </a:rPr>
              <a:t>가용재고</a:t>
            </a:r>
            <a:r>
              <a:rPr lang="en-US" altLang="ko-KR" sz="1600">
                <a:solidFill>
                  <a:schemeClr val="tx1"/>
                </a:solidFill>
              </a:rPr>
              <a:t>)</a:t>
            </a:r>
            <a:endParaRPr lang="ko-KR" altLang="en-US" sz="1600">
              <a:solidFill>
                <a:schemeClr val="tx1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946FC87-6D88-4873-8B39-AB0CA5AD5F48}"/>
              </a:ext>
            </a:extLst>
          </p:cNvPr>
          <p:cNvSpPr/>
          <p:nvPr/>
        </p:nvSpPr>
        <p:spPr>
          <a:xfrm>
            <a:off x="3765755" y="4161995"/>
            <a:ext cx="2374490" cy="1098755"/>
          </a:xfrm>
          <a:prstGeom prst="round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tx1"/>
                </a:solidFill>
              </a:rPr>
              <a:t>[Credit]</a:t>
            </a:r>
          </a:p>
          <a:p>
            <a:pPr algn="ctr"/>
            <a:r>
              <a:rPr lang="en-US" altLang="ko-KR" sz="1600">
                <a:solidFill>
                  <a:schemeClr val="tx1"/>
                </a:solidFill>
              </a:rPr>
              <a:t>(</a:t>
            </a:r>
            <a:r>
              <a:rPr lang="ko-KR" altLang="en-US" sz="1600">
                <a:solidFill>
                  <a:schemeClr val="tx1"/>
                </a:solidFill>
              </a:rPr>
              <a:t>여신</a:t>
            </a:r>
            <a:r>
              <a:rPr lang="en-US" altLang="ko-KR" sz="1600">
                <a:solidFill>
                  <a:schemeClr val="tx1"/>
                </a:solidFill>
              </a:rPr>
              <a:t>/</a:t>
            </a:r>
            <a:r>
              <a:rPr lang="ko-KR" altLang="en-US" sz="1600">
                <a:solidFill>
                  <a:schemeClr val="tx1"/>
                </a:solidFill>
              </a:rPr>
              <a:t>한도</a:t>
            </a:r>
            <a:r>
              <a:rPr lang="en-US" altLang="ko-KR" sz="1600">
                <a:solidFill>
                  <a:schemeClr val="tx1"/>
                </a:solidFill>
              </a:rPr>
              <a:t>/</a:t>
            </a:r>
            <a:r>
              <a:rPr lang="ko-KR" altLang="en-US" sz="1600">
                <a:solidFill>
                  <a:schemeClr val="tx1"/>
                </a:solidFill>
              </a:rPr>
              <a:t>출하통제</a:t>
            </a:r>
            <a:r>
              <a:rPr lang="en-US" altLang="ko-KR" sz="1600">
                <a:solidFill>
                  <a:schemeClr val="tx1"/>
                </a:solidFill>
              </a:rPr>
              <a:t>)</a:t>
            </a:r>
            <a:endParaRPr lang="ko-KR" altLang="en-US" sz="160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5A24ADE-4C34-4B52-918F-F52550BAF64C}"/>
              </a:ext>
            </a:extLst>
          </p:cNvPr>
          <p:cNvSpPr/>
          <p:nvPr/>
        </p:nvSpPr>
        <p:spPr>
          <a:xfrm>
            <a:off x="7016039" y="4161995"/>
            <a:ext cx="2374490" cy="1098755"/>
          </a:xfrm>
          <a:prstGeom prst="round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tx1"/>
                </a:solidFill>
              </a:rPr>
              <a:t>[Export Planning]</a:t>
            </a:r>
          </a:p>
          <a:p>
            <a:pPr algn="ctr"/>
            <a:r>
              <a:rPr lang="en-US" altLang="ko-KR" sz="1600">
                <a:solidFill>
                  <a:schemeClr val="tx1"/>
                </a:solidFill>
              </a:rPr>
              <a:t>(</a:t>
            </a:r>
            <a:r>
              <a:rPr lang="ko-KR" altLang="en-US" sz="1600">
                <a:solidFill>
                  <a:schemeClr val="tx1"/>
                </a:solidFill>
              </a:rPr>
              <a:t>수출계획</a:t>
            </a:r>
            <a:r>
              <a:rPr lang="en-US" altLang="ko-KR" sz="1600">
                <a:solidFill>
                  <a:schemeClr val="tx1"/>
                </a:solidFill>
              </a:rPr>
              <a:t>/</a:t>
            </a:r>
            <a:r>
              <a:rPr lang="ko-KR" altLang="en-US" sz="1600">
                <a:solidFill>
                  <a:schemeClr val="tx1"/>
                </a:solidFill>
              </a:rPr>
              <a:t>검토</a:t>
            </a:r>
            <a:r>
              <a:rPr lang="en-US" altLang="ko-KR" sz="1600">
                <a:solidFill>
                  <a:schemeClr val="tx1"/>
                </a:solidFill>
              </a:rPr>
              <a:t>/</a:t>
            </a:r>
            <a:r>
              <a:rPr lang="ko-KR" altLang="en-US" sz="1600">
                <a:solidFill>
                  <a:schemeClr val="tx1"/>
                </a:solidFill>
              </a:rPr>
              <a:t>승인</a:t>
            </a:r>
            <a:r>
              <a:rPr lang="en-US" altLang="ko-KR" sz="1600">
                <a:solidFill>
                  <a:schemeClr val="tx1"/>
                </a:solidFill>
              </a:rPr>
              <a:t>)</a:t>
            </a:r>
            <a:endParaRPr lang="ko-KR" altLang="en-US" sz="1600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5ED7CC58-6863-4BBD-8F2B-C705D5683F82}"/>
              </a:ext>
            </a:extLst>
          </p:cNvPr>
          <p:cNvCxnSpPr>
            <a:cxnSpLocks/>
            <a:stCxn id="25" idx="1"/>
            <a:endCxn id="24" idx="3"/>
          </p:cNvCxnSpPr>
          <p:nvPr/>
        </p:nvCxnSpPr>
        <p:spPr>
          <a:xfrm flipH="1">
            <a:off x="2807189" y="4711373"/>
            <a:ext cx="9585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2EFC5A38-7168-492F-B4F1-82B445010D4D}"/>
              </a:ext>
            </a:extLst>
          </p:cNvPr>
          <p:cNvCxnSpPr>
            <a:cxnSpLocks/>
          </p:cNvCxnSpPr>
          <p:nvPr/>
        </p:nvCxnSpPr>
        <p:spPr>
          <a:xfrm>
            <a:off x="5825613" y="3415484"/>
            <a:ext cx="1190426" cy="691942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6F6FA728-7400-4E90-808B-BC388CCC4953}"/>
              </a:ext>
            </a:extLst>
          </p:cNvPr>
          <p:cNvCxnSpPr>
            <a:cxnSpLocks/>
            <a:stCxn id="24" idx="0"/>
            <a:endCxn id="9" idx="2"/>
          </p:cNvCxnSpPr>
          <p:nvPr/>
        </p:nvCxnSpPr>
        <p:spPr>
          <a:xfrm flipV="1">
            <a:off x="1619944" y="3415484"/>
            <a:ext cx="0" cy="7465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09416584-31F3-40C4-B84A-4FA3353F5D9D}"/>
              </a:ext>
            </a:extLst>
          </p:cNvPr>
          <p:cNvCxnSpPr>
            <a:cxnSpLocks/>
            <a:stCxn id="25" idx="0"/>
            <a:endCxn id="11" idx="2"/>
          </p:cNvCxnSpPr>
          <p:nvPr/>
        </p:nvCxnSpPr>
        <p:spPr>
          <a:xfrm flipV="1">
            <a:off x="4953000" y="3415484"/>
            <a:ext cx="0" cy="7465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F64B3B4-AEAB-4DBC-BCAF-C49137B07575}"/>
              </a:ext>
            </a:extLst>
          </p:cNvPr>
          <p:cNvSpPr/>
          <p:nvPr/>
        </p:nvSpPr>
        <p:spPr>
          <a:xfrm>
            <a:off x="432699" y="5708118"/>
            <a:ext cx="2374490" cy="1098755"/>
          </a:xfrm>
          <a:prstGeom prst="round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tx1"/>
                </a:solidFill>
              </a:rPr>
              <a:t>[Warehouse]</a:t>
            </a:r>
          </a:p>
          <a:p>
            <a:pPr algn="ctr"/>
            <a:r>
              <a:rPr lang="en-US" altLang="ko-KR" sz="1600">
                <a:solidFill>
                  <a:schemeClr val="tx1"/>
                </a:solidFill>
              </a:rPr>
              <a:t>(</a:t>
            </a:r>
            <a:r>
              <a:rPr lang="ko-KR" altLang="en-US" sz="1600">
                <a:solidFill>
                  <a:schemeClr val="tx1"/>
                </a:solidFill>
              </a:rPr>
              <a:t>센터</a:t>
            </a:r>
            <a:r>
              <a:rPr lang="en-US" altLang="ko-KR" sz="1600">
                <a:solidFill>
                  <a:schemeClr val="tx1"/>
                </a:solidFill>
              </a:rPr>
              <a:t>/</a:t>
            </a:r>
            <a:r>
              <a:rPr lang="ko-KR" altLang="en-US" sz="1600">
                <a:solidFill>
                  <a:schemeClr val="tx1"/>
                </a:solidFill>
              </a:rPr>
              <a:t>창고</a:t>
            </a:r>
            <a:r>
              <a:rPr lang="en-US" altLang="ko-KR" sz="1600">
                <a:solidFill>
                  <a:schemeClr val="tx1"/>
                </a:solidFill>
              </a:rPr>
              <a:t>/</a:t>
            </a:r>
            <a:r>
              <a:rPr lang="ko-KR" altLang="en-US" sz="1600">
                <a:solidFill>
                  <a:schemeClr val="tx1"/>
                </a:solidFill>
              </a:rPr>
              <a:t>존</a:t>
            </a:r>
            <a:r>
              <a:rPr lang="en-US" altLang="ko-KR" sz="1600">
                <a:solidFill>
                  <a:schemeClr val="tx1"/>
                </a:solidFill>
              </a:rPr>
              <a:t>/</a:t>
            </a:r>
            <a:r>
              <a:rPr lang="ko-KR" altLang="en-US" sz="1600">
                <a:solidFill>
                  <a:schemeClr val="tx1"/>
                </a:solidFill>
              </a:rPr>
              <a:t>로케이션</a:t>
            </a:r>
            <a:r>
              <a:rPr lang="en-US" altLang="ko-KR" sz="1600">
                <a:solidFill>
                  <a:schemeClr val="tx1"/>
                </a:solidFill>
              </a:rPr>
              <a:t>)</a:t>
            </a:r>
            <a:endParaRPr lang="ko-KR" altLang="en-US" sz="1600">
              <a:solidFill>
                <a:schemeClr val="tx1"/>
              </a:solidFill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AEDA5C2-B12B-4006-8912-6898DB2D63ED}"/>
              </a:ext>
            </a:extLst>
          </p:cNvPr>
          <p:cNvCxnSpPr>
            <a:cxnSpLocks/>
            <a:stCxn id="40" idx="0"/>
            <a:endCxn id="24" idx="2"/>
          </p:cNvCxnSpPr>
          <p:nvPr/>
        </p:nvCxnSpPr>
        <p:spPr>
          <a:xfrm flipV="1">
            <a:off x="1619944" y="5260750"/>
            <a:ext cx="0" cy="4473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BBE637E3-8D71-47BE-ADA9-000AFE1A125C}"/>
              </a:ext>
            </a:extLst>
          </p:cNvPr>
          <p:cNvCxnSpPr>
            <a:cxnSpLocks/>
          </p:cNvCxnSpPr>
          <p:nvPr/>
        </p:nvCxnSpPr>
        <p:spPr>
          <a:xfrm flipH="1">
            <a:off x="5825613" y="3318387"/>
            <a:ext cx="1190426" cy="10250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0EF76A0F-C4A4-4185-99A8-D0027A2B76F6}"/>
              </a:ext>
            </a:extLst>
          </p:cNvPr>
          <p:cNvCxnSpPr>
            <a:cxnSpLocks/>
          </p:cNvCxnSpPr>
          <p:nvPr/>
        </p:nvCxnSpPr>
        <p:spPr>
          <a:xfrm>
            <a:off x="2807189" y="3239732"/>
            <a:ext cx="4146676" cy="11036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3D6FA18C-FA40-4A06-BDB5-6DDE4E035015}"/>
              </a:ext>
            </a:extLst>
          </p:cNvPr>
          <p:cNvCxnSpPr>
            <a:endCxn id="26" idx="2"/>
          </p:cNvCxnSpPr>
          <p:nvPr/>
        </p:nvCxnSpPr>
        <p:spPr>
          <a:xfrm>
            <a:off x="2197510" y="5260750"/>
            <a:ext cx="6005774" cy="12700"/>
          </a:xfrm>
          <a:prstGeom prst="bentConnector4">
            <a:avLst>
              <a:gd name="adj1" fmla="val 6596"/>
              <a:gd name="adj2" fmla="val 2480646"/>
            </a:avLst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79535CFE-6A4A-4D54-AD83-C8201A0DDAEE}"/>
              </a:ext>
            </a:extLst>
          </p:cNvPr>
          <p:cNvSpPr txBox="1"/>
          <p:nvPr/>
        </p:nvSpPr>
        <p:spPr>
          <a:xfrm>
            <a:off x="5329323" y="5638160"/>
            <a:ext cx="992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>
                <a:latin typeface="KoPub돋움체 Medium"/>
                <a:ea typeface="KoPub돋움체 Medium"/>
              </a:rPr>
              <a:t>보조참조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6610D24D-0037-4570-9CE5-4DED38FD60D8}"/>
              </a:ext>
            </a:extLst>
          </p:cNvPr>
          <p:cNvCxnSpPr>
            <a:cxnSpLocks/>
          </p:cNvCxnSpPr>
          <p:nvPr/>
        </p:nvCxnSpPr>
        <p:spPr>
          <a:xfrm flipV="1">
            <a:off x="1651899" y="1827574"/>
            <a:ext cx="2113856" cy="4719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0B8423DC-BA44-4A72-8463-FA92B8F624A9}"/>
              </a:ext>
            </a:extLst>
          </p:cNvPr>
          <p:cNvCxnSpPr>
            <a:cxnSpLocks/>
            <a:stCxn id="12" idx="1"/>
            <a:endCxn id="11" idx="3"/>
          </p:cNvCxnSpPr>
          <p:nvPr/>
        </p:nvCxnSpPr>
        <p:spPr>
          <a:xfrm flipH="1">
            <a:off x="6140245" y="2866107"/>
            <a:ext cx="8757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1B064212-E6D5-4E28-B1A0-135F1408E47D}"/>
              </a:ext>
            </a:extLst>
          </p:cNvPr>
          <p:cNvSpPr txBox="1"/>
          <p:nvPr/>
        </p:nvSpPr>
        <p:spPr>
          <a:xfrm>
            <a:off x="2800280" y="2479570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>
                <a:latin typeface="KoPub돋움체 Medium"/>
                <a:ea typeface="KoPub돋움체 Medium"/>
              </a:rPr>
              <a:t>S</a:t>
            </a:r>
            <a:endParaRPr lang="ko-KR" altLang="en-US" b="1">
              <a:latin typeface="KoPub돋움체 Medium"/>
              <a:ea typeface="KoPub돋움체 Medium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F1E34F1-56BC-48AF-A761-1F2E83D42BDF}"/>
              </a:ext>
            </a:extLst>
          </p:cNvPr>
          <p:cNvSpPr txBox="1"/>
          <p:nvPr/>
        </p:nvSpPr>
        <p:spPr>
          <a:xfrm>
            <a:off x="358472" y="3643038"/>
            <a:ext cx="1302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>
                <a:latin typeface="KoPub돋움체 Medium"/>
                <a:ea typeface="KoPub돋움체 Medium"/>
              </a:rPr>
              <a:t>Conformist</a:t>
            </a:r>
            <a:endParaRPr lang="ko-KR" altLang="en-US" b="1">
              <a:latin typeface="KoPub돋움체 Medium"/>
              <a:ea typeface="KoPub돋움체 Medium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47BD568-1D5E-4614-9D2B-D67C240BA1A8}"/>
              </a:ext>
            </a:extLst>
          </p:cNvPr>
          <p:cNvSpPr txBox="1"/>
          <p:nvPr/>
        </p:nvSpPr>
        <p:spPr>
          <a:xfrm>
            <a:off x="6882961" y="3305687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>
                <a:latin typeface="KoPub돋움체 Medium"/>
                <a:ea typeface="KoPub돋움체 Medium"/>
              </a:rPr>
              <a:t>S</a:t>
            </a:r>
            <a:endParaRPr lang="ko-KR" altLang="en-US" b="1">
              <a:latin typeface="KoPub돋움체 Medium"/>
              <a:ea typeface="KoPub돋움체 Medium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4A48875-82FC-4C87-8F12-1FD5B49C514C}"/>
              </a:ext>
            </a:extLst>
          </p:cNvPr>
          <p:cNvSpPr txBox="1"/>
          <p:nvPr/>
        </p:nvSpPr>
        <p:spPr>
          <a:xfrm>
            <a:off x="5867070" y="4186019"/>
            <a:ext cx="335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>
                <a:latin typeface="KoPub돋움체 Medium"/>
                <a:ea typeface="KoPub돋움체 Medium"/>
              </a:rPr>
              <a:t>C</a:t>
            </a:r>
            <a:endParaRPr lang="ko-KR" altLang="en-US" b="1">
              <a:latin typeface="KoPub돋움체 Medium"/>
              <a:ea typeface="KoPub돋움체 Medium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0252D9D-D7C4-4F29-A7DC-83DD6C55FC9C}"/>
              </a:ext>
            </a:extLst>
          </p:cNvPr>
          <p:cNvSpPr txBox="1"/>
          <p:nvPr/>
        </p:nvSpPr>
        <p:spPr>
          <a:xfrm>
            <a:off x="3430406" y="2489096"/>
            <a:ext cx="335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>
                <a:latin typeface="KoPub돋움체 Medium"/>
                <a:ea typeface="KoPub돋움체 Medium"/>
              </a:rPr>
              <a:t>C</a:t>
            </a:r>
            <a:endParaRPr lang="ko-KR" altLang="en-US" b="1">
              <a:latin typeface="KoPub돋움체 Medium"/>
              <a:ea typeface="KoPub돋움체 Medium"/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B7D5C0AA-51A8-4A10-AAE3-EA1A06D4F4B7}"/>
              </a:ext>
            </a:extLst>
          </p:cNvPr>
          <p:cNvCxnSpPr/>
          <p:nvPr/>
        </p:nvCxnSpPr>
        <p:spPr>
          <a:xfrm>
            <a:off x="2800280" y="3092248"/>
            <a:ext cx="9585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3CEDE904-5DB5-4719-89C9-B0E4E12EF9B6}"/>
              </a:ext>
            </a:extLst>
          </p:cNvPr>
          <p:cNvSpPr txBox="1"/>
          <p:nvPr/>
        </p:nvSpPr>
        <p:spPr>
          <a:xfrm>
            <a:off x="2439715" y="3059979"/>
            <a:ext cx="1594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>
                <a:latin typeface="KoPub돋움체 Medium"/>
                <a:ea typeface="KoPub돋움체 Medium"/>
              </a:rPr>
              <a:t>Shared Kernel</a:t>
            </a:r>
            <a:endParaRPr lang="ko-KR" altLang="en-US" b="1">
              <a:latin typeface="KoPub돋움체 Medium"/>
              <a:ea typeface="KoPub돋움체 Medium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8E4664B-B1D4-42A3-AC34-7D4219FEBA3A}"/>
              </a:ext>
            </a:extLst>
          </p:cNvPr>
          <p:cNvSpPr txBox="1"/>
          <p:nvPr/>
        </p:nvSpPr>
        <p:spPr>
          <a:xfrm>
            <a:off x="4340184" y="3384593"/>
            <a:ext cx="13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>
                <a:latin typeface="KoPub돋움체 Medium"/>
                <a:ea typeface="KoPub돋움체 Medium"/>
              </a:rPr>
              <a:t>Partnership</a:t>
            </a:r>
            <a:endParaRPr lang="ko-KR" altLang="en-US" b="1">
              <a:latin typeface="KoPub돋움체 Medium"/>
              <a:ea typeface="KoPub돋움체 Medium"/>
            </a:endParaRP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004FA7A5-9E38-4E21-A418-6692DD7EDC77}"/>
              </a:ext>
            </a:extLst>
          </p:cNvPr>
          <p:cNvCxnSpPr>
            <a:cxnSpLocks/>
          </p:cNvCxnSpPr>
          <p:nvPr/>
        </p:nvCxnSpPr>
        <p:spPr>
          <a:xfrm>
            <a:off x="1949325" y="3440805"/>
            <a:ext cx="0" cy="773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8EBDE48E-C551-4A5F-BCCA-3A9558E33EE0}"/>
              </a:ext>
            </a:extLst>
          </p:cNvPr>
          <p:cNvSpPr txBox="1"/>
          <p:nvPr/>
        </p:nvSpPr>
        <p:spPr>
          <a:xfrm>
            <a:off x="1889346" y="3501837"/>
            <a:ext cx="11769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>
                <a:latin typeface="KoPub돋움체 Medium"/>
                <a:ea typeface="KoPub돋움체 Medium"/>
              </a:rPr>
              <a:t>Published</a:t>
            </a:r>
          </a:p>
          <a:p>
            <a:pPr algn="ctr"/>
            <a:r>
              <a:rPr lang="en-US" altLang="ko-KR" b="1">
                <a:latin typeface="KoPub돋움체 Medium"/>
                <a:ea typeface="KoPub돋움체 Medium"/>
              </a:rPr>
              <a:t>language</a:t>
            </a:r>
            <a:endParaRPr lang="ko-KR" altLang="en-US" b="1">
              <a:latin typeface="KoPub돋움체 Medium"/>
              <a:ea typeface="KoPub돋움체 Medium"/>
            </a:endParaRPr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7684E9EC-F972-47EF-BEDF-7A7B8E05025B}"/>
              </a:ext>
            </a:extLst>
          </p:cNvPr>
          <p:cNvCxnSpPr>
            <a:cxnSpLocks/>
            <a:endCxn id="81" idx="2"/>
          </p:cNvCxnSpPr>
          <p:nvPr/>
        </p:nvCxnSpPr>
        <p:spPr>
          <a:xfrm flipH="1" flipV="1">
            <a:off x="840633" y="1570218"/>
            <a:ext cx="338214" cy="7041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4204FA56-13A9-4F92-9B21-7148D4A01B54}"/>
              </a:ext>
            </a:extLst>
          </p:cNvPr>
          <p:cNvSpPr txBox="1"/>
          <p:nvPr/>
        </p:nvSpPr>
        <p:spPr>
          <a:xfrm>
            <a:off x="571969" y="1200886"/>
            <a:ext cx="537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>
                <a:latin typeface="KoPub돋움체 Medium"/>
                <a:ea typeface="KoPub돋움체 Medium"/>
              </a:rPr>
              <a:t>API</a:t>
            </a:r>
            <a:endParaRPr lang="ko-KR" altLang="en-US" b="1">
              <a:latin typeface="KoPub돋움체 Medium"/>
              <a:ea typeface="KoPub돋움체 Medium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A7C7B3E-30A8-4BF3-83D8-083FA18C8142}"/>
              </a:ext>
            </a:extLst>
          </p:cNvPr>
          <p:cNvSpPr txBox="1"/>
          <p:nvPr/>
        </p:nvSpPr>
        <p:spPr>
          <a:xfrm>
            <a:off x="167039" y="1762624"/>
            <a:ext cx="2032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latin typeface="KoPub돋움체 Medium"/>
                <a:ea typeface="KoPub돋움체 Medium"/>
              </a:rPr>
              <a:t>Open host service</a:t>
            </a:r>
            <a:endParaRPr lang="ko-KR" altLang="en-US" b="1" dirty="0">
              <a:latin typeface="KoPub돋움체 Medium"/>
              <a:ea typeface="KoPub돋움체 Medium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6B42F73-304B-43A6-B2BA-CEDE9580D12E}"/>
              </a:ext>
            </a:extLst>
          </p:cNvPr>
          <p:cNvSpPr txBox="1"/>
          <p:nvPr/>
        </p:nvSpPr>
        <p:spPr>
          <a:xfrm>
            <a:off x="6702681" y="2505687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>
                <a:latin typeface="KoPub돋움체 Medium"/>
                <a:ea typeface="KoPub돋움체 Medium"/>
              </a:rPr>
              <a:t>S</a:t>
            </a:r>
            <a:endParaRPr lang="ko-KR" altLang="en-US" b="1">
              <a:latin typeface="KoPub돋움체 Medium"/>
              <a:ea typeface="KoPub돋움체 Medium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A298C25-7DD8-4133-82BE-3184C2B7D2FB}"/>
              </a:ext>
            </a:extLst>
          </p:cNvPr>
          <p:cNvSpPr txBox="1"/>
          <p:nvPr/>
        </p:nvSpPr>
        <p:spPr>
          <a:xfrm>
            <a:off x="6118254" y="2521632"/>
            <a:ext cx="335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>
                <a:latin typeface="KoPub돋움체 Medium"/>
                <a:ea typeface="KoPub돋움체 Medium"/>
              </a:rPr>
              <a:t>C</a:t>
            </a:r>
            <a:endParaRPr lang="ko-KR" altLang="en-US" b="1">
              <a:latin typeface="KoPub돋움체 Medium"/>
              <a:ea typeface="KoPub돋움체 Medium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28482F8-2AD9-477B-9768-CDF969A3D70F}"/>
              </a:ext>
            </a:extLst>
          </p:cNvPr>
          <p:cNvSpPr txBox="1"/>
          <p:nvPr/>
        </p:nvSpPr>
        <p:spPr>
          <a:xfrm>
            <a:off x="1284594" y="5559330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latin typeface="KoPub돋움체 Medium"/>
                <a:ea typeface="KoPub돋움체 Medium"/>
              </a:rPr>
              <a:t>S</a:t>
            </a:r>
            <a:endParaRPr lang="ko-KR" altLang="en-US" b="1" dirty="0">
              <a:latin typeface="KoPub돋움체 Medium"/>
              <a:ea typeface="KoPub돋움체 Medium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987A7AA-2C50-4C91-A71C-01E1C74BD149}"/>
              </a:ext>
            </a:extLst>
          </p:cNvPr>
          <p:cNvSpPr txBox="1"/>
          <p:nvPr/>
        </p:nvSpPr>
        <p:spPr>
          <a:xfrm>
            <a:off x="1284595" y="5189998"/>
            <a:ext cx="335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>
                <a:latin typeface="KoPub돋움체 Medium"/>
                <a:ea typeface="KoPub돋움체 Medium"/>
              </a:rPr>
              <a:t>C</a:t>
            </a:r>
            <a:endParaRPr lang="ko-KR" altLang="en-US" b="1">
              <a:latin typeface="KoPub돋움체 Medium"/>
              <a:ea typeface="KoPub돋움체 Medium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087555C-3AB8-4B2C-931D-05070BAE28FB}"/>
              </a:ext>
            </a:extLst>
          </p:cNvPr>
          <p:cNvSpPr txBox="1"/>
          <p:nvPr/>
        </p:nvSpPr>
        <p:spPr>
          <a:xfrm>
            <a:off x="3451123" y="4329341"/>
            <a:ext cx="780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>
                <a:latin typeface="KoPub돋움체 Medium"/>
                <a:ea typeface="KoPub돋움체 Medium"/>
              </a:rPr>
              <a:t>Policy</a:t>
            </a:r>
            <a:endParaRPr lang="ko-KR" altLang="en-US" b="1">
              <a:latin typeface="KoPub돋움체 Medium"/>
              <a:ea typeface="KoPub돋움체 Medium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465DD8E-525E-42F1-99D2-DAFF77B7E214}"/>
              </a:ext>
            </a:extLst>
          </p:cNvPr>
          <p:cNvSpPr txBox="1"/>
          <p:nvPr/>
        </p:nvSpPr>
        <p:spPr>
          <a:xfrm>
            <a:off x="2261960" y="4342721"/>
            <a:ext cx="1183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>
                <a:latin typeface="KoPub돋움체 Medium"/>
                <a:ea typeface="KoPub돋움체 Medium"/>
              </a:rPr>
              <a:t>Execution</a:t>
            </a:r>
            <a:endParaRPr lang="ko-KR" altLang="en-US" b="1">
              <a:latin typeface="KoPub돋움체 Medium"/>
              <a:ea typeface="KoPub돋움체 Medium"/>
            </a:endParaRPr>
          </a:p>
        </p:txBody>
      </p:sp>
    </p:spTree>
    <p:extLst>
      <p:ext uri="{BB962C8B-B14F-4D97-AF65-F5344CB8AC3E}">
        <p14:creationId xmlns:p14="http://schemas.microsoft.com/office/powerpoint/2010/main" val="33407838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23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1428276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컨택스트 맵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04</a:t>
            </a:r>
            <a:endParaRPr lang="ko-KR" altLang="en-US" dirty="0"/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679259" y="1282239"/>
            <a:ext cx="4681779" cy="3332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/>
              <a:t>설계 원칙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7CCEFF-2603-4111-A8D7-95CD0788A6F2}"/>
              </a:ext>
            </a:extLst>
          </p:cNvPr>
          <p:cNvSpPr/>
          <p:nvPr/>
        </p:nvSpPr>
        <p:spPr>
          <a:xfrm>
            <a:off x="1246398" y="1775116"/>
            <a:ext cx="7381408" cy="4555093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상품은 </a:t>
            </a:r>
            <a:r>
              <a:rPr lang="en-US" altLang="ko-KR" sz="2000">
                <a:latin typeface="+mn-ea"/>
              </a:rPr>
              <a:t>Catalog</a:t>
            </a:r>
            <a:r>
              <a:rPr lang="ko-KR" altLang="en-US" sz="2000">
                <a:latin typeface="+mn-ea"/>
              </a:rPr>
              <a:t>만 수정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Pricing, Inventory, Export</a:t>
            </a:r>
            <a:r>
              <a:rPr lang="ko-KR" altLang="en-US" sz="2000">
                <a:latin typeface="+mn-ea"/>
              </a:rPr>
              <a:t>는 상품을 직접 바꾸지 않음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거래처는 </a:t>
            </a:r>
            <a:r>
              <a:rPr lang="en-US" altLang="ko-KR" sz="2000">
                <a:latin typeface="+mn-ea"/>
              </a:rPr>
              <a:t>Partner</a:t>
            </a:r>
            <a:r>
              <a:rPr lang="ko-KR" altLang="en-US" sz="2000">
                <a:latin typeface="+mn-ea"/>
              </a:rPr>
              <a:t>만 수정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Credit, Pricing, Export</a:t>
            </a:r>
            <a:r>
              <a:rPr lang="ko-KR" altLang="en-US" sz="2000">
                <a:latin typeface="+mn-ea"/>
              </a:rPr>
              <a:t>는 거래처를 직접 바꾸지 않음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가격은 </a:t>
            </a:r>
            <a:r>
              <a:rPr lang="en-US" altLang="ko-KR" sz="2000">
                <a:latin typeface="+mn-ea"/>
              </a:rPr>
              <a:t>Pricing</a:t>
            </a:r>
            <a:r>
              <a:rPr lang="ko-KR" altLang="en-US" sz="2000">
                <a:latin typeface="+mn-ea"/>
              </a:rPr>
              <a:t>만 결정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다른 컨택스트는 가격을 저장하거나 덮어쓰지 않음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재고는 </a:t>
            </a:r>
            <a:r>
              <a:rPr lang="en-US" altLang="ko-KR" sz="2000">
                <a:latin typeface="+mn-ea"/>
              </a:rPr>
              <a:t>Inventory</a:t>
            </a:r>
            <a:r>
              <a:rPr lang="ko-KR" altLang="en-US" sz="2000">
                <a:latin typeface="+mn-ea"/>
              </a:rPr>
              <a:t>만 보장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다른 컨택스트는 재고 수량을 직접 수정하지 않음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수출계획은 </a:t>
            </a:r>
            <a:r>
              <a:rPr lang="en-US" altLang="ko-KR" sz="2000">
                <a:latin typeface="+mn-ea"/>
              </a:rPr>
              <a:t>Export Planning</a:t>
            </a:r>
            <a:r>
              <a:rPr lang="ko-KR" altLang="en-US" sz="2000">
                <a:latin typeface="+mn-ea"/>
              </a:rPr>
              <a:t>이 소유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Catalog</a:t>
            </a:r>
            <a:r>
              <a:rPr lang="ko-KR" altLang="en-US" sz="2000">
                <a:latin typeface="+mn-ea"/>
              </a:rPr>
              <a:t>의 품목 속성과 혼합하지 않음</a:t>
            </a:r>
            <a:endParaRPr lang="en-US" altLang="ko-KR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073287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24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3481722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카탈로그 컨택스트 핵심 모델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05</a:t>
            </a:r>
            <a:endParaRPr lang="ko-KR" altLang="en-US" dirty="0"/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679259" y="1282239"/>
            <a:ext cx="4681779" cy="3332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Aggregate Root: Product</a:t>
            </a:r>
            <a:endParaRPr lang="ko-KR" altLang="en-US" sz="24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7CCEFF-2603-4111-A8D7-95CD0788A6F2}"/>
              </a:ext>
            </a:extLst>
          </p:cNvPr>
          <p:cNvSpPr/>
          <p:nvPr/>
        </p:nvSpPr>
        <p:spPr>
          <a:xfrm>
            <a:off x="1246398" y="1775116"/>
            <a:ext cx="7381408" cy="317009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의미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상품의 정체성을 정의하는 기준 객체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책임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상품 등록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상품 상태 변경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분류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브랜드 연결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바코드 관리</a:t>
            </a:r>
            <a:endParaRPr lang="en-US" altLang="ko-KR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560026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25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3481722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카탈로그 컨택스트 핵심 모델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05</a:t>
            </a:r>
            <a:endParaRPr lang="ko-KR" altLang="en-US" dirty="0"/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679259" y="1282239"/>
            <a:ext cx="4681779" cy="3332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Entity</a:t>
            </a:r>
            <a:endParaRPr lang="ko-KR" altLang="en-US" sz="24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7CCEFF-2603-4111-A8D7-95CD0788A6F2}"/>
              </a:ext>
            </a:extLst>
          </p:cNvPr>
          <p:cNvSpPr/>
          <p:nvPr/>
        </p:nvSpPr>
        <p:spPr>
          <a:xfrm>
            <a:off x="993138" y="1767741"/>
            <a:ext cx="3060131" cy="5016758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Product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productid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productCode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productName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brandId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categoryId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status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salesUnit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taxType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createdA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tupdatedAt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D62B5AB-89D5-4E14-A091-A7C4977B7709}"/>
              </a:ext>
            </a:extLst>
          </p:cNvPr>
          <p:cNvSpPr/>
          <p:nvPr/>
        </p:nvSpPr>
        <p:spPr>
          <a:xfrm>
            <a:off x="4176332" y="1767741"/>
            <a:ext cx="3060131" cy="224676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Barcode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barcodeId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barcodeValue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isPrimary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barcodeType</a:t>
            </a:r>
          </a:p>
        </p:txBody>
      </p:sp>
    </p:spTree>
    <p:extLst>
      <p:ext uri="{BB962C8B-B14F-4D97-AF65-F5344CB8AC3E}">
        <p14:creationId xmlns:p14="http://schemas.microsoft.com/office/powerpoint/2010/main" val="5297214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26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3481722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카탈로그 컨택스트 핵심 모델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05</a:t>
            </a:r>
            <a:endParaRPr lang="ko-KR" altLang="en-US" dirty="0"/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679259" y="1282239"/>
            <a:ext cx="4681779" cy="3332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Value Object</a:t>
            </a:r>
            <a:endParaRPr lang="ko-KR" altLang="en-US" sz="24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7CCEFF-2603-4111-A8D7-95CD0788A6F2}"/>
              </a:ext>
            </a:extLst>
          </p:cNvPr>
          <p:cNvSpPr/>
          <p:nvPr/>
        </p:nvSpPr>
        <p:spPr>
          <a:xfrm>
            <a:off x="993138" y="1767741"/>
            <a:ext cx="3060131" cy="4093428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ProductName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상품명 표현 규칙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ProductStatus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ACTIVE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INACTIVE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DISCONTINUED</a:t>
            </a: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CategoryRef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categoryId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categoryCode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D62B5AB-89D5-4E14-A091-A7C4977B7709}"/>
              </a:ext>
            </a:extLst>
          </p:cNvPr>
          <p:cNvSpPr/>
          <p:nvPr/>
        </p:nvSpPr>
        <p:spPr>
          <a:xfrm>
            <a:off x="4062073" y="1767740"/>
            <a:ext cx="3581320" cy="317009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BrandRef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brandId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brandCode</a:t>
            </a: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TradeInfo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originCountry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hsCode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importFlag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E394B30-BAFD-4425-9BF5-62810768E865}"/>
              </a:ext>
            </a:extLst>
          </p:cNvPr>
          <p:cNvSpPr/>
          <p:nvPr/>
        </p:nvSpPr>
        <p:spPr>
          <a:xfrm>
            <a:off x="7068118" y="1767740"/>
            <a:ext cx="2769056" cy="317009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LogisticsInfo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packageUnit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boxQty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weight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width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height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depth</a:t>
            </a:r>
          </a:p>
        </p:txBody>
      </p:sp>
    </p:spTree>
    <p:extLst>
      <p:ext uri="{BB962C8B-B14F-4D97-AF65-F5344CB8AC3E}">
        <p14:creationId xmlns:p14="http://schemas.microsoft.com/office/powerpoint/2010/main" val="39803799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27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3214021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파트너 컨택스트 핵심 모델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05</a:t>
            </a:r>
            <a:endParaRPr lang="ko-KR" altLang="en-US" dirty="0"/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679259" y="1282239"/>
            <a:ext cx="4681779" cy="3332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Aggregate Root: Customer</a:t>
            </a:r>
            <a:endParaRPr lang="ko-KR" altLang="en-US" sz="24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7CCEFF-2603-4111-A8D7-95CD0788A6F2}"/>
              </a:ext>
            </a:extLst>
          </p:cNvPr>
          <p:cNvSpPr/>
          <p:nvPr/>
        </p:nvSpPr>
        <p:spPr>
          <a:xfrm>
            <a:off x="993138" y="1767741"/>
            <a:ext cx="6550662" cy="317009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의미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거래 가능한 고객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거래처의 기준 정보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책임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거래처 등록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수정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주소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계좌 관리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거래처 상태 관리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고객 식별</a:t>
            </a:r>
            <a:endParaRPr lang="en-US" altLang="ko-KR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305861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0E77CD9-3158-4C54-9CC2-F92360F8AA86}"/>
              </a:ext>
            </a:extLst>
          </p:cNvPr>
          <p:cNvSpPr/>
          <p:nvPr/>
        </p:nvSpPr>
        <p:spPr>
          <a:xfrm>
            <a:off x="4953000" y="1851114"/>
            <a:ext cx="3245159" cy="2708434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BankAccount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accountId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bankCode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accountNoMasked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accountholder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isPrimarystatus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28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3214021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파트너 컨택스트 핵심 모델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05</a:t>
            </a:r>
            <a:endParaRPr lang="ko-KR" altLang="en-US" dirty="0"/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679259" y="1282239"/>
            <a:ext cx="4681779" cy="3332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Entity</a:t>
            </a:r>
            <a:endParaRPr lang="ko-KR" altLang="en-US" sz="24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7CCEFF-2603-4111-A8D7-95CD0788A6F2}"/>
              </a:ext>
            </a:extLst>
          </p:cNvPr>
          <p:cNvSpPr/>
          <p:nvPr/>
        </p:nvSpPr>
        <p:spPr>
          <a:xfrm>
            <a:off x="76835" y="1851114"/>
            <a:ext cx="3062668" cy="3631763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Customer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customerId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customerCode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customerName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businessNumber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customerType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customerGrade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status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D79EFB4-BEED-4BF2-BB3A-7713D16AC700}"/>
              </a:ext>
            </a:extLst>
          </p:cNvPr>
          <p:cNvSpPr/>
          <p:nvPr/>
        </p:nvSpPr>
        <p:spPr>
          <a:xfrm>
            <a:off x="2743200" y="1851114"/>
            <a:ext cx="3062668" cy="31700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Address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addressId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addressType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zipCode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address1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address2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isPrimary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AB124A-7670-4DEA-98A8-EB3C07B35926}"/>
              </a:ext>
            </a:extLst>
          </p:cNvPr>
          <p:cNvSpPr/>
          <p:nvPr/>
        </p:nvSpPr>
        <p:spPr>
          <a:xfrm>
            <a:off x="7714210" y="1851114"/>
            <a:ext cx="3062668" cy="27084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Contact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contactId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department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name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phone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9473474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29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3214021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파트너 컨택스트 핵심 모델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05</a:t>
            </a:r>
            <a:endParaRPr lang="ko-KR" altLang="en-US" dirty="0"/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679259" y="1282239"/>
            <a:ext cx="4681779" cy="3332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Value Object</a:t>
            </a:r>
            <a:endParaRPr lang="ko-KR" altLang="en-US" sz="24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858B56D-B48C-4E47-97CB-0F14E54DFC9C}"/>
              </a:ext>
            </a:extLst>
          </p:cNvPr>
          <p:cNvSpPr/>
          <p:nvPr/>
        </p:nvSpPr>
        <p:spPr>
          <a:xfrm>
            <a:off x="386550" y="1851114"/>
            <a:ext cx="3062668" cy="224676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CustomerType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RETAIL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WHOLESALE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EXPORT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VENDOR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5554F3F-CD63-492F-8A9F-550672BAE4C7}"/>
              </a:ext>
            </a:extLst>
          </p:cNvPr>
          <p:cNvSpPr/>
          <p:nvPr/>
        </p:nvSpPr>
        <p:spPr>
          <a:xfrm>
            <a:off x="3303637" y="1851114"/>
            <a:ext cx="3062668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CustomerGrade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A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B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C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SPECIAL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E848B89-3342-458F-81E4-9B04FD79F82B}"/>
              </a:ext>
            </a:extLst>
          </p:cNvPr>
          <p:cNvSpPr/>
          <p:nvPr/>
        </p:nvSpPr>
        <p:spPr>
          <a:xfrm>
            <a:off x="6637576" y="1851114"/>
            <a:ext cx="3062668" cy="1785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CustomerStatus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ACTIVE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SUSPENDED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CLOSED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0C66D6F-2359-4901-9449-8B4E6281641D}"/>
              </a:ext>
            </a:extLst>
          </p:cNvPr>
          <p:cNvSpPr/>
          <p:nvPr/>
        </p:nvSpPr>
        <p:spPr>
          <a:xfrm>
            <a:off x="477667" y="4592261"/>
            <a:ext cx="3062668" cy="1631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BusinessIdentity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businessNumber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corporationNumber</a:t>
            </a:r>
          </a:p>
        </p:txBody>
      </p:sp>
    </p:spTree>
    <p:extLst>
      <p:ext uri="{BB962C8B-B14F-4D97-AF65-F5344CB8AC3E}">
        <p14:creationId xmlns:p14="http://schemas.microsoft.com/office/powerpoint/2010/main" val="26229063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30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3214021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파트너 컨택스트 핵심 모델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05</a:t>
            </a:r>
            <a:endParaRPr lang="ko-KR" altLang="en-US" dirty="0"/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679259" y="1282239"/>
            <a:ext cx="4681779" cy="3332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Value Object</a:t>
            </a:r>
            <a:endParaRPr lang="ko-KR" altLang="en-US" sz="24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858B56D-B48C-4E47-97CB-0F14E54DFC9C}"/>
              </a:ext>
            </a:extLst>
          </p:cNvPr>
          <p:cNvSpPr/>
          <p:nvPr/>
        </p:nvSpPr>
        <p:spPr>
          <a:xfrm>
            <a:off x="386550" y="1851114"/>
            <a:ext cx="3062668" cy="224676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CustomerType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RETAIL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WHOLESALE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EXPORT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VENDOR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5554F3F-CD63-492F-8A9F-550672BAE4C7}"/>
              </a:ext>
            </a:extLst>
          </p:cNvPr>
          <p:cNvSpPr/>
          <p:nvPr/>
        </p:nvSpPr>
        <p:spPr>
          <a:xfrm>
            <a:off x="3303637" y="1851114"/>
            <a:ext cx="3062668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CustomerGrade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A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B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C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SPECIAL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E848B89-3342-458F-81E4-9B04FD79F82B}"/>
              </a:ext>
            </a:extLst>
          </p:cNvPr>
          <p:cNvSpPr/>
          <p:nvPr/>
        </p:nvSpPr>
        <p:spPr>
          <a:xfrm>
            <a:off x="6637576" y="1851114"/>
            <a:ext cx="3062668" cy="1785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CustomerStatus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ACTIVE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SUSPENDED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CLOSED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0C66D6F-2359-4901-9449-8B4E6281641D}"/>
              </a:ext>
            </a:extLst>
          </p:cNvPr>
          <p:cNvSpPr/>
          <p:nvPr/>
        </p:nvSpPr>
        <p:spPr>
          <a:xfrm>
            <a:off x="477667" y="4592261"/>
            <a:ext cx="3062668" cy="1631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BusinessIdentity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businessNumber</a:t>
            </a: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2000">
                <a:latin typeface="+mn-ea"/>
              </a:rPr>
              <a:t>corporationNumber</a:t>
            </a:r>
          </a:p>
        </p:txBody>
      </p:sp>
    </p:spTree>
    <p:extLst>
      <p:ext uri="{BB962C8B-B14F-4D97-AF65-F5344CB8AC3E}">
        <p14:creationId xmlns:p14="http://schemas.microsoft.com/office/powerpoint/2010/main" val="3081059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Calibri Light"/>
        <a:ea typeface="KoPub돋움체 Bold"/>
        <a:cs typeface=""/>
      </a:majorFont>
      <a:minorFont>
        <a:latin typeface="KoPub돋움체 Light"/>
        <a:ea typeface="KoPub돋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ctr">
          <a:defRPr smtClean="0">
            <a:latin typeface="KoPub돋움체 Medium"/>
            <a:ea typeface="KoPub돋움체 Medium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10793</TotalTime>
  <Words>1364</Words>
  <Application>Microsoft Office PowerPoint</Application>
  <PresentationFormat>A4 용지(210x297mm)</PresentationFormat>
  <Paragraphs>525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KoPub돋움체 Bold</vt:lpstr>
      <vt:lpstr>KoPub돋움체 Light</vt:lpstr>
      <vt:lpstr>KoPub돋움체 Medium</vt:lpstr>
      <vt:lpstr>Arial</vt:lpstr>
      <vt:lpstr>Office 테마</vt:lpstr>
      <vt:lpstr>PowerPoint 프레젠테이션</vt:lpstr>
      <vt:lpstr>비즈니스 도메인 분석 (DDD 관점)</vt:lpstr>
      <vt:lpstr>DDD 분석 질문</vt:lpstr>
      <vt:lpstr>비즈니스 도메인 분석 (DDD 관점)</vt:lpstr>
      <vt:lpstr>비즈니스 도메인 분석 (DDD 관점)</vt:lpstr>
      <vt:lpstr>비즈니스 도메인 분석 (DDD 관점)</vt:lpstr>
      <vt:lpstr>비즈니스 도메인 분석 (DDD 관점)</vt:lpstr>
      <vt:lpstr>비즈니스 도메인 분석 (DDD 관점)</vt:lpstr>
      <vt:lpstr>비즈니스 도메인 분석 (DDD 관점)</vt:lpstr>
      <vt:lpstr>비즈니스 도메인 분석 (DDD 관점)</vt:lpstr>
      <vt:lpstr>비즈니스 도메인 분석 (DDD 관점)</vt:lpstr>
      <vt:lpstr>서브 도메인 후보 정리</vt:lpstr>
      <vt:lpstr>서브 도메인 후보 정리</vt:lpstr>
      <vt:lpstr>바운디드 컨택스트</vt:lpstr>
      <vt:lpstr>바운디드 컨택스트</vt:lpstr>
      <vt:lpstr>바운디드 컨택스트</vt:lpstr>
      <vt:lpstr>바운디드 컨택스트</vt:lpstr>
      <vt:lpstr>바운디드 컨택스트</vt:lpstr>
      <vt:lpstr>바운디드 컨택스트</vt:lpstr>
      <vt:lpstr>바운디드 컨택스트</vt:lpstr>
      <vt:lpstr>Subdomain + Bounded Context</vt:lpstr>
      <vt:lpstr>컨택스트 맵</vt:lpstr>
      <vt:lpstr>컨택스트 맵</vt:lpstr>
      <vt:lpstr>카탈로그 컨택스트 핵심 모델</vt:lpstr>
      <vt:lpstr>카탈로그 컨택스트 핵심 모델</vt:lpstr>
      <vt:lpstr>카탈로그 컨택스트 핵심 모델</vt:lpstr>
      <vt:lpstr>파트너 컨택스트 핵심 모델</vt:lpstr>
      <vt:lpstr>파트너 컨택스트 핵심 모델</vt:lpstr>
      <vt:lpstr>파트너 컨택스트 핵심 모델</vt:lpstr>
      <vt:lpstr>파트너 컨택스트 핵심 모델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이영곤</cp:lastModifiedBy>
  <cp:revision>8791</cp:revision>
  <dcterms:created xsi:type="dcterms:W3CDTF">2018-09-13T06:27:38Z</dcterms:created>
  <dcterms:modified xsi:type="dcterms:W3CDTF">2026-04-16T04:14:50Z</dcterms:modified>
  <cp:version/>
</cp:coreProperties>
</file>